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4158" cy="30275784"/>
  <p:notesSz cx="30275784" cy="2138415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ster" id="{61ced7dc-ef0c-bee5-88d1-d39fef6f30ad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B2545"/>
                </a:solidFill>
                <a:latin typeface="+mn-lt"/>
              </a:rPr>
              <a:t>MCAS nose-down trim (°)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Max nose-down trim per activation</c:v>
                </c:pt>
              </c:strCache>
            </c:strRef>
          </c:tx>
          <c:spPr>
            <a:solidFill>
              <a:srgbClr val="8DA9C4"/>
            </a:solidFill>
            <a:effectLst/>
          </c:spPr>
          <c:invertIfNegative val="0"/>
          <c:dLbls>
            <c:numFmt formatCode="0.0&quot;°&quot;" sourceLinked="0"/>
            <c:txPr>
              <a:bodyPr/>
              <a:lstStyle/>
              <a:p>
                <a:pPr>
                  <a:defRPr b="1" i="0" strike="noStrike" sz="24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DA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726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What the FAA saw</c:v>
                  </c:pt>
                  <c:pt idx="1">
                    <c:v>What flew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</c:v>
                </c:pt>
                <c:pt idx="1">
                  <c:v>2.5</c:v>
                </c:pt>
              </c:numCache>
            </c:numRef>
          </c:val>
        </c:ser>
        <c:dLbls>
          <c:numFmt formatCode="0.0&quot;°&quot;" sourceLinked="0"/>
          <c:txPr>
            <a:bodyPr/>
            <a:lstStyle/>
            <a:p>
              <a:pPr>
                <a:defRPr b="1" i="0" strike="noStrike" sz="2400" u="none">
                  <a:solidFill>
                    <a:srgbClr val="0B254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2E3A4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4" Type="http://schemas.openxmlformats.org/officeDocument/2006/relationships/chart" Target="/ppt/charts/chart1.xml"/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jp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5" Type="http://schemas.openxmlformats.org/officeDocument/2006/relationships/image" Target="../media/image-1-14.jp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ader photo" descr="Rows of grounded Boeing 737 MAX je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1384158" cy="6492240"/>
          </a:xfrm>
          <a:prstGeom prst="rect">
            <a:avLst/>
          </a:prstGeom>
        </p:spPr>
      </p:pic>
      <p:pic>
        <p:nvPicPr>
          <p:cNvPr id="3" name="Header fad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158" cy="6492240"/>
          </a:xfrm>
          <a:prstGeom prst="rect">
            <a:avLst/>
          </a:prstGeom>
        </p:spPr>
      </p:pic>
      <p:sp>
        <p:nvSpPr>
          <p:cNvPr id="4" name="US chip"/>
          <p:cNvSpPr/>
          <p:nvPr/>
        </p:nvSpPr>
        <p:spPr>
          <a:xfrm>
            <a:off x="731520" y="914400"/>
            <a:ext cx="310896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" name="US chip text"/>
          <p:cNvSpPr txBox="1"/>
          <p:nvPr/>
        </p:nvSpPr>
        <p:spPr>
          <a:xfrm>
            <a:off x="731520" y="9144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chemeClr val="tx1"/>
                </a:solidFill>
              </a:rPr>
              <a:t>A US STORY</a:t>
            </a:r>
            <a:endParaRPr lang="en-US" sz="2200" dirty="0"/>
          </a:p>
        </p:txBody>
      </p:sp>
      <p:sp>
        <p:nvSpPr>
          <p:cNvPr id="6" name="Title"/>
          <p:cNvSpPr txBox="1"/>
          <p:nvPr/>
        </p:nvSpPr>
        <p:spPr>
          <a:xfrm>
            <a:off x="731520" y="1828800"/>
            <a:ext cx="15087600" cy="192024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381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0" b="1" dirty="0">
                <a:solidFill>
                  <a:schemeClr val="bg1"/>
                </a:solidFill>
              </a:rPr>
              <a:t>Boeing 737 MAX</a:t>
            </a:r>
            <a:endParaRPr lang="en-US" sz="13200" dirty="0"/>
          </a:p>
        </p:txBody>
      </p:sp>
      <p:sp>
        <p:nvSpPr>
          <p:cNvPr id="7" name="Subtitle"/>
          <p:cNvSpPr txBox="1"/>
          <p:nvPr/>
        </p:nvSpPr>
        <p:spPr>
          <a:xfrm>
            <a:off x="731520" y="3931920"/>
            <a:ext cx="1508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400" b="1" dirty="0">
                <a:solidFill>
                  <a:schemeClr val="accent2"/>
                </a:solidFill>
              </a:rPr>
              <a:t>Bug or Business Decision?</a:t>
            </a:r>
            <a:endParaRPr lang="en-US" sz="7400" dirty="0"/>
          </a:p>
        </p:txBody>
      </p:sp>
      <p:sp>
        <p:nvSpPr>
          <p:cNvPr id="8" name="Badge disc"/>
          <p:cNvSpPr/>
          <p:nvPr/>
        </p:nvSpPr>
        <p:spPr>
          <a:xfrm>
            <a:off x="16446398" y="1051560"/>
            <a:ext cx="4206240" cy="4206240"/>
          </a:xfrm>
          <a:prstGeom prst="ellipse">
            <a:avLst/>
          </a:prstGeom>
          <a:solidFill>
            <a:schemeClr val="accent1"/>
          </a:solidFill>
          <a:ln w="10160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Badge number"/>
          <p:cNvSpPr txBox="1"/>
          <p:nvPr/>
        </p:nvSpPr>
        <p:spPr>
          <a:xfrm>
            <a:off x="16446398" y="1828800"/>
            <a:ext cx="4206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400" b="1" dirty="0">
                <a:solidFill>
                  <a:schemeClr val="bg1"/>
                </a:solidFill>
              </a:rPr>
              <a:t>346</a:t>
            </a:r>
            <a:endParaRPr lang="en-US" sz="12400" dirty="0"/>
          </a:p>
        </p:txBody>
      </p:sp>
      <p:sp>
        <p:nvSpPr>
          <p:cNvPr id="10" name="Badge label"/>
          <p:cNvSpPr txBox="1"/>
          <p:nvPr/>
        </p:nvSpPr>
        <p:spPr>
          <a:xfrm>
            <a:off x="16446398" y="35661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lives lost</a:t>
            </a:r>
            <a:endParaRPr lang="en-US" sz="3600" dirty="0"/>
          </a:p>
        </p:txBody>
      </p:sp>
      <p:sp>
        <p:nvSpPr>
          <p:cNvPr id="11" name="Stat card 1"/>
          <p:cNvSpPr/>
          <p:nvPr/>
        </p:nvSpPr>
        <p:spPr>
          <a:xfrm>
            <a:off x="731520" y="6675120"/>
            <a:ext cx="4705960" cy="2103120"/>
          </a:xfrm>
          <a:prstGeom prst="roundRect">
            <a:avLst>
              <a:gd name="adj" fmla="val 10870"/>
            </a:avLst>
          </a:prstGeom>
          <a:solidFill>
            <a:srgbClr val="13335C"/>
          </a:solidFill>
          <a:ln w="19050">
            <a:solidFill>
              <a:srgbClr val="24497A"/>
            </a:solidFill>
            <a:prstDash val="solid"/>
          </a:ln>
        </p:spPr>
      </p:sp>
      <p:pic>
        <p:nvPicPr>
          <p:cNvPr id="12" name="Stat icon 1" descr="crashes, under 5 months ap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7022592"/>
            <a:ext cx="640080" cy="640080"/>
          </a:xfrm>
          <a:prstGeom prst="rect">
            <a:avLst/>
          </a:prstGeom>
        </p:spPr>
      </p:pic>
      <p:sp>
        <p:nvSpPr>
          <p:cNvPr id="13" name="Stat number 1"/>
          <p:cNvSpPr txBox="1"/>
          <p:nvPr/>
        </p:nvSpPr>
        <p:spPr>
          <a:xfrm>
            <a:off x="1874520" y="6839712"/>
            <a:ext cx="3425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2"/>
                </a:solidFill>
              </a:rPr>
              <a:t>2</a:t>
            </a:r>
            <a:endParaRPr lang="en-US" sz="6400" dirty="0"/>
          </a:p>
        </p:txBody>
      </p:sp>
      <p:sp>
        <p:nvSpPr>
          <p:cNvPr id="14" name="Stat label 1"/>
          <p:cNvSpPr txBox="1"/>
          <p:nvPr/>
        </p:nvSpPr>
        <p:spPr>
          <a:xfrm>
            <a:off x="1051560" y="7863840"/>
            <a:ext cx="415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crashes, under 5 months apart</a:t>
            </a:r>
            <a:endParaRPr lang="en-US" sz="1900" dirty="0"/>
          </a:p>
        </p:txBody>
      </p:sp>
      <p:sp>
        <p:nvSpPr>
          <p:cNvPr id="15" name="Stat card 2"/>
          <p:cNvSpPr/>
          <p:nvPr/>
        </p:nvSpPr>
        <p:spPr>
          <a:xfrm>
            <a:off x="5803240" y="6675120"/>
            <a:ext cx="4705960" cy="2103120"/>
          </a:xfrm>
          <a:prstGeom prst="roundRect">
            <a:avLst>
              <a:gd name="adj" fmla="val 10870"/>
            </a:avLst>
          </a:prstGeom>
          <a:solidFill>
            <a:srgbClr val="13335C"/>
          </a:solidFill>
          <a:ln w="19050">
            <a:solidFill>
              <a:srgbClr val="24497A"/>
            </a:solidFill>
            <a:prstDash val="solid"/>
          </a:ln>
        </p:spPr>
      </p:sp>
      <p:pic>
        <p:nvPicPr>
          <p:cNvPr id="16" name="Stat icon 2" descr="months grounded in the 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3280" y="7022592"/>
            <a:ext cx="640080" cy="640080"/>
          </a:xfrm>
          <a:prstGeom prst="rect">
            <a:avLst/>
          </a:prstGeom>
        </p:spPr>
      </p:pic>
      <p:sp>
        <p:nvSpPr>
          <p:cNvPr id="17" name="Stat number 2"/>
          <p:cNvSpPr txBox="1"/>
          <p:nvPr/>
        </p:nvSpPr>
        <p:spPr>
          <a:xfrm>
            <a:off x="6946240" y="6839712"/>
            <a:ext cx="3425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2"/>
                </a:solidFill>
              </a:rPr>
              <a:t>20</a:t>
            </a:r>
            <a:endParaRPr lang="en-US" sz="6400" dirty="0"/>
          </a:p>
        </p:txBody>
      </p:sp>
      <p:sp>
        <p:nvSpPr>
          <p:cNvPr id="18" name="Stat label 2"/>
          <p:cNvSpPr txBox="1"/>
          <p:nvPr/>
        </p:nvSpPr>
        <p:spPr>
          <a:xfrm>
            <a:off x="6123280" y="7863840"/>
            <a:ext cx="415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months grounded in the US</a:t>
            </a:r>
            <a:endParaRPr lang="en-US" sz="1900" dirty="0"/>
          </a:p>
        </p:txBody>
      </p:sp>
      <p:sp>
        <p:nvSpPr>
          <p:cNvPr id="19" name="Stat card 3"/>
          <p:cNvSpPr/>
          <p:nvPr/>
        </p:nvSpPr>
        <p:spPr>
          <a:xfrm>
            <a:off x="10874959" y="6675120"/>
            <a:ext cx="4705960" cy="2103120"/>
          </a:xfrm>
          <a:prstGeom prst="roundRect">
            <a:avLst>
              <a:gd name="adj" fmla="val 10870"/>
            </a:avLst>
          </a:prstGeom>
          <a:solidFill>
            <a:srgbClr val="13335C"/>
          </a:solidFill>
          <a:ln w="19050">
            <a:solidFill>
              <a:srgbClr val="24497A"/>
            </a:solidFill>
            <a:prstDash val="solid"/>
          </a:ln>
        </p:spPr>
      </p:sp>
      <p:pic>
        <p:nvPicPr>
          <p:cNvPr id="20" name="Stat icon 3" descr="more nose-down push than the FAA review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4999" y="7022592"/>
            <a:ext cx="640080" cy="640080"/>
          </a:xfrm>
          <a:prstGeom prst="rect">
            <a:avLst/>
          </a:prstGeom>
        </p:spPr>
      </p:pic>
      <p:sp>
        <p:nvSpPr>
          <p:cNvPr id="21" name="Stat number 3"/>
          <p:cNvSpPr txBox="1"/>
          <p:nvPr/>
        </p:nvSpPr>
        <p:spPr>
          <a:xfrm>
            <a:off x="12017959" y="6839712"/>
            <a:ext cx="3425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2"/>
                </a:solidFill>
              </a:rPr>
              <a:t>4×</a:t>
            </a:r>
            <a:endParaRPr lang="en-US" sz="6400" dirty="0"/>
          </a:p>
        </p:txBody>
      </p:sp>
      <p:sp>
        <p:nvSpPr>
          <p:cNvPr id="22" name="Stat label 3"/>
          <p:cNvSpPr txBox="1"/>
          <p:nvPr/>
        </p:nvSpPr>
        <p:spPr>
          <a:xfrm>
            <a:off x="11194999" y="7863840"/>
            <a:ext cx="415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more nose-down push than the FAA reviewed</a:t>
            </a:r>
            <a:endParaRPr lang="en-US" sz="1900" dirty="0"/>
          </a:p>
        </p:txBody>
      </p:sp>
      <p:sp>
        <p:nvSpPr>
          <p:cNvPr id="23" name="Stat card 4"/>
          <p:cNvSpPr/>
          <p:nvPr/>
        </p:nvSpPr>
        <p:spPr>
          <a:xfrm>
            <a:off x="15946679" y="6675120"/>
            <a:ext cx="4705960" cy="2103120"/>
          </a:xfrm>
          <a:prstGeom prst="roundRect">
            <a:avLst>
              <a:gd name="adj" fmla="val 10870"/>
            </a:avLst>
          </a:prstGeom>
          <a:solidFill>
            <a:srgbClr val="13335C"/>
          </a:solidFill>
          <a:ln w="19050">
            <a:solidFill>
              <a:srgbClr val="24497A"/>
            </a:solidFill>
            <a:prstDash val="solid"/>
          </a:ln>
        </p:spPr>
      </p:sp>
      <p:pic>
        <p:nvPicPr>
          <p:cNvPr id="24" name="Stat icon 4" descr="fraud settlement paid by Boe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66719" y="7022592"/>
            <a:ext cx="640080" cy="640080"/>
          </a:xfrm>
          <a:prstGeom prst="rect">
            <a:avLst/>
          </a:prstGeom>
        </p:spPr>
      </p:pic>
      <p:sp>
        <p:nvSpPr>
          <p:cNvPr id="25" name="Stat number 4"/>
          <p:cNvSpPr txBox="1"/>
          <p:nvPr/>
        </p:nvSpPr>
        <p:spPr>
          <a:xfrm>
            <a:off x="17089679" y="6839712"/>
            <a:ext cx="3425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2"/>
                </a:solidFill>
              </a:rPr>
              <a:t>$2.5bn</a:t>
            </a:r>
            <a:endParaRPr lang="en-US" sz="6400" dirty="0"/>
          </a:p>
        </p:txBody>
      </p:sp>
      <p:sp>
        <p:nvSpPr>
          <p:cNvPr id="26" name="Stat label 4"/>
          <p:cNvSpPr txBox="1"/>
          <p:nvPr/>
        </p:nvSpPr>
        <p:spPr>
          <a:xfrm>
            <a:off x="16266719" y="7863840"/>
            <a:ext cx="415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fraud settlement paid by Boeing</a:t>
            </a:r>
            <a:endParaRPr lang="en-US" sz="1900" dirty="0"/>
          </a:p>
        </p:txBody>
      </p:sp>
      <p:sp>
        <p:nvSpPr>
          <p:cNvPr id="27" name="Panel 1"/>
          <p:cNvSpPr/>
          <p:nvPr/>
        </p:nvSpPr>
        <p:spPr>
          <a:xfrm>
            <a:off x="731520" y="9235440"/>
            <a:ext cx="9731959" cy="9212580"/>
          </a:xfrm>
          <a:prstGeom prst="roundRect">
            <a:avLst>
              <a:gd name="adj" fmla="val 2978"/>
            </a:avLst>
          </a:prstGeom>
          <a:solidFill>
            <a:srgbClr val="E1EDF8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28" name="Panel number disc 1"/>
          <p:cNvSpPr/>
          <p:nvPr/>
        </p:nvSpPr>
        <p:spPr>
          <a:xfrm>
            <a:off x="1143000" y="9646920"/>
            <a:ext cx="1051560" cy="1051560"/>
          </a:xfrm>
          <a:prstGeom prst="ellipse">
            <a:avLst/>
          </a:prstGeom>
          <a:solidFill>
            <a:srgbClr val="1F6FB2"/>
          </a:solidFill>
          <a:ln/>
        </p:spPr>
      </p:sp>
      <p:sp>
        <p:nvSpPr>
          <p:cNvPr id="29" name="Panel number 1"/>
          <p:cNvSpPr txBox="1"/>
          <p:nvPr/>
        </p:nvSpPr>
        <p:spPr>
          <a:xfrm>
            <a:off x="1143000" y="96469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</a:t>
            </a:r>
            <a:endParaRPr lang="en-US" sz="4400" dirty="0"/>
          </a:p>
        </p:txBody>
      </p:sp>
      <p:sp>
        <p:nvSpPr>
          <p:cNvPr id="30" name="Panel title 1"/>
          <p:cNvSpPr txBox="1"/>
          <p:nvPr/>
        </p:nvSpPr>
        <p:spPr>
          <a:xfrm>
            <a:off x="2468880" y="9601200"/>
            <a:ext cx="7583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happened?</a:t>
            </a:r>
            <a:endParaRPr lang="en-US" sz="3600" dirty="0"/>
          </a:p>
        </p:txBody>
      </p:sp>
      <p:sp>
        <p:nvSpPr>
          <p:cNvPr id="31" name="Panel 2"/>
          <p:cNvSpPr/>
          <p:nvPr/>
        </p:nvSpPr>
        <p:spPr>
          <a:xfrm>
            <a:off x="10920679" y="9235440"/>
            <a:ext cx="9731959" cy="9212580"/>
          </a:xfrm>
          <a:prstGeom prst="roundRect">
            <a:avLst>
              <a:gd name="adj" fmla="val 2978"/>
            </a:avLst>
          </a:prstGeom>
          <a:solidFill>
            <a:srgbClr val="FFF3D6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32" name="Panel number disc 2"/>
          <p:cNvSpPr/>
          <p:nvPr/>
        </p:nvSpPr>
        <p:spPr>
          <a:xfrm>
            <a:off x="11332159" y="9646920"/>
            <a:ext cx="1051560" cy="105156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33" name="Panel number 2"/>
          <p:cNvSpPr txBox="1"/>
          <p:nvPr/>
        </p:nvSpPr>
        <p:spPr>
          <a:xfrm>
            <a:off x="11332159" y="964692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</a:t>
            </a:r>
            <a:endParaRPr lang="en-US" sz="4400" dirty="0"/>
          </a:p>
        </p:txBody>
      </p:sp>
      <p:sp>
        <p:nvSpPr>
          <p:cNvPr id="34" name="Panel title 2"/>
          <p:cNvSpPr txBox="1"/>
          <p:nvPr/>
        </p:nvSpPr>
        <p:spPr>
          <a:xfrm>
            <a:off x="12658039" y="9601200"/>
            <a:ext cx="7583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hidden software: MCAS</a:t>
            </a:r>
            <a:endParaRPr lang="en-US" sz="3600" dirty="0"/>
          </a:p>
        </p:txBody>
      </p:sp>
      <p:sp>
        <p:nvSpPr>
          <p:cNvPr id="35" name="Panel 3"/>
          <p:cNvSpPr/>
          <p:nvPr/>
        </p:nvSpPr>
        <p:spPr>
          <a:xfrm>
            <a:off x="731520" y="18905220"/>
            <a:ext cx="9731959" cy="9212580"/>
          </a:xfrm>
          <a:prstGeom prst="roundRect">
            <a:avLst>
              <a:gd name="adj" fmla="val 2978"/>
            </a:avLst>
          </a:prstGeom>
          <a:solidFill>
            <a:srgbClr val="FBE3E6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36" name="Panel number disc 3"/>
          <p:cNvSpPr/>
          <p:nvPr/>
        </p:nvSpPr>
        <p:spPr>
          <a:xfrm>
            <a:off x="1143000" y="19316700"/>
            <a:ext cx="1051560" cy="105156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37" name="Panel number 3"/>
          <p:cNvSpPr txBox="1"/>
          <p:nvPr/>
        </p:nvSpPr>
        <p:spPr>
          <a:xfrm>
            <a:off x="1143000" y="193167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</a:t>
            </a:r>
            <a:endParaRPr lang="en-US" sz="4400" dirty="0"/>
          </a:p>
        </p:txBody>
      </p:sp>
      <p:sp>
        <p:nvSpPr>
          <p:cNvPr id="38" name="Panel title 3"/>
          <p:cNvSpPr txBox="1"/>
          <p:nvPr/>
        </p:nvSpPr>
        <p:spPr>
          <a:xfrm>
            <a:off x="2468880" y="19270980"/>
            <a:ext cx="7583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Bug or business decision?</a:t>
            </a:r>
            <a:endParaRPr lang="en-US" sz="3600" dirty="0"/>
          </a:p>
        </p:txBody>
      </p:sp>
      <p:sp>
        <p:nvSpPr>
          <p:cNvPr id="39" name="Panel 4"/>
          <p:cNvSpPr/>
          <p:nvPr/>
        </p:nvSpPr>
        <p:spPr>
          <a:xfrm>
            <a:off x="10920679" y="18905220"/>
            <a:ext cx="9731959" cy="9212580"/>
          </a:xfrm>
          <a:prstGeom prst="roundRect">
            <a:avLst>
              <a:gd name="adj" fmla="val 2978"/>
            </a:avLst>
          </a:prstGeom>
          <a:solidFill>
            <a:srgbClr val="DDF1EE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40" name="Panel number disc 4"/>
          <p:cNvSpPr/>
          <p:nvPr/>
        </p:nvSpPr>
        <p:spPr>
          <a:xfrm>
            <a:off x="11332159" y="19316700"/>
            <a:ext cx="1051560" cy="105156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41" name="Panel number 4"/>
          <p:cNvSpPr txBox="1"/>
          <p:nvPr/>
        </p:nvSpPr>
        <p:spPr>
          <a:xfrm>
            <a:off x="11332159" y="193167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4</a:t>
            </a:r>
            <a:endParaRPr lang="en-US" sz="4400" dirty="0"/>
          </a:p>
        </p:txBody>
      </p:sp>
      <p:sp>
        <p:nvSpPr>
          <p:cNvPr id="42" name="Panel title 4"/>
          <p:cNvSpPr txBox="1"/>
          <p:nvPr/>
        </p:nvSpPr>
        <p:spPr>
          <a:xfrm>
            <a:off x="12658039" y="19270980"/>
            <a:ext cx="7583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should developers learn?</a:t>
            </a:r>
            <a:endParaRPr lang="en-US" sz="3600" dirty="0"/>
          </a:p>
        </p:txBody>
      </p:sp>
      <p:sp>
        <p:nvSpPr>
          <p:cNvPr id="43" name="P1 axis"/>
          <p:cNvSpPr/>
          <p:nvPr/>
        </p:nvSpPr>
        <p:spPr>
          <a:xfrm>
            <a:off x="1389888" y="11402568"/>
            <a:ext cx="0" cy="5966460"/>
          </a:xfrm>
          <a:prstGeom prst="line">
            <a:avLst/>
          </a:prstGeom>
          <a:noFill/>
          <a:ln w="63500">
            <a:solidFill>
              <a:schemeClr val="accent6"/>
            </a:solidFill>
            <a:prstDash val="solid"/>
          </a:ln>
        </p:spPr>
      </p:sp>
      <p:sp>
        <p:nvSpPr>
          <p:cNvPr id="44" name="P1 node 1"/>
          <p:cNvSpPr/>
          <p:nvPr/>
        </p:nvSpPr>
        <p:spPr>
          <a:xfrm>
            <a:off x="1143000" y="11155680"/>
            <a:ext cx="493776" cy="493776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pic>
        <p:nvPicPr>
          <p:cNvPr id="45" name="P1 crash icon 1" descr="Cras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1872" y="11274552"/>
            <a:ext cx="256032" cy="256032"/>
          </a:xfrm>
          <a:prstGeom prst="rect">
            <a:avLst/>
          </a:prstGeom>
        </p:spPr>
      </p:pic>
      <p:sp>
        <p:nvSpPr>
          <p:cNvPr id="46" name="P1 date 1"/>
          <p:cNvSpPr txBox="1"/>
          <p:nvPr/>
        </p:nvSpPr>
        <p:spPr>
          <a:xfrm>
            <a:off x="2011680" y="11137392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29 Oct 2018</a:t>
            </a:r>
            <a:endParaRPr lang="en-US" sz="2800" dirty="0"/>
          </a:p>
        </p:txBody>
      </p:sp>
      <p:sp>
        <p:nvSpPr>
          <p:cNvPr id="47" name="P1 event 1"/>
          <p:cNvSpPr txBox="1"/>
          <p:nvPr/>
        </p:nvSpPr>
        <p:spPr>
          <a:xfrm>
            <a:off x="2011680" y="11631168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Lion Air 610, Indonesia: 189 killed [4]</a:t>
            </a:r>
            <a:endParaRPr lang="en-US" sz="2200" dirty="0"/>
          </a:p>
        </p:txBody>
      </p:sp>
      <p:sp>
        <p:nvSpPr>
          <p:cNvPr id="48" name="P1 node 2"/>
          <p:cNvSpPr/>
          <p:nvPr/>
        </p:nvSpPr>
        <p:spPr>
          <a:xfrm>
            <a:off x="1143000" y="12647295"/>
            <a:ext cx="493776" cy="493776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pic>
        <p:nvPicPr>
          <p:cNvPr id="49" name="P1 crash icon 2" descr="Cras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1872" y="12766167"/>
            <a:ext cx="256032" cy="256032"/>
          </a:xfrm>
          <a:prstGeom prst="rect">
            <a:avLst/>
          </a:prstGeom>
        </p:spPr>
      </p:pic>
      <p:sp>
        <p:nvSpPr>
          <p:cNvPr id="50" name="P1 date 2"/>
          <p:cNvSpPr txBox="1"/>
          <p:nvPr/>
        </p:nvSpPr>
        <p:spPr>
          <a:xfrm>
            <a:off x="2011680" y="12629007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 Mar 2019</a:t>
            </a:r>
            <a:endParaRPr lang="en-US" sz="2800" dirty="0"/>
          </a:p>
        </p:txBody>
      </p:sp>
      <p:sp>
        <p:nvSpPr>
          <p:cNvPr id="51" name="P1 event 2"/>
          <p:cNvSpPr txBox="1"/>
          <p:nvPr/>
        </p:nvSpPr>
        <p:spPr>
          <a:xfrm>
            <a:off x="2011680" y="13122783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Ethiopian Airlines 302: 157 killed [4]</a:t>
            </a:r>
            <a:endParaRPr lang="en-US" sz="2200" dirty="0"/>
          </a:p>
        </p:txBody>
      </p:sp>
      <p:sp>
        <p:nvSpPr>
          <p:cNvPr id="52" name="P1 node 3"/>
          <p:cNvSpPr/>
          <p:nvPr/>
        </p:nvSpPr>
        <p:spPr>
          <a:xfrm>
            <a:off x="1143000" y="14138910"/>
            <a:ext cx="493776" cy="49377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3" name="P1 date 3"/>
          <p:cNvSpPr txBox="1"/>
          <p:nvPr/>
        </p:nvSpPr>
        <p:spPr>
          <a:xfrm>
            <a:off x="2011680" y="14120622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13 Mar 2019</a:t>
            </a:r>
            <a:endParaRPr lang="en-US" sz="2800" dirty="0"/>
          </a:p>
        </p:txBody>
      </p:sp>
      <p:sp>
        <p:nvSpPr>
          <p:cNvPr id="54" name="P1 event 3"/>
          <p:cNvSpPr txBox="1"/>
          <p:nvPr/>
        </p:nvSpPr>
        <p:spPr>
          <a:xfrm>
            <a:off x="2011680" y="14614398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The FAA grounds the 737 MAX in the US [4]</a:t>
            </a:r>
            <a:endParaRPr lang="en-US" sz="2200" dirty="0"/>
          </a:p>
        </p:txBody>
      </p:sp>
      <p:sp>
        <p:nvSpPr>
          <p:cNvPr id="55" name="P1 node 4"/>
          <p:cNvSpPr/>
          <p:nvPr/>
        </p:nvSpPr>
        <p:spPr>
          <a:xfrm>
            <a:off x="1143000" y="15630525"/>
            <a:ext cx="493776" cy="49377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6" name="P1 date 4"/>
          <p:cNvSpPr txBox="1"/>
          <p:nvPr/>
        </p:nvSpPr>
        <p:spPr>
          <a:xfrm>
            <a:off x="2011680" y="15612237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18 Nov 2020</a:t>
            </a:r>
            <a:endParaRPr lang="en-US" sz="2800" dirty="0"/>
          </a:p>
        </p:txBody>
      </p:sp>
      <p:sp>
        <p:nvSpPr>
          <p:cNvPr id="57" name="P1 event 4"/>
          <p:cNvSpPr txBox="1"/>
          <p:nvPr/>
        </p:nvSpPr>
        <p:spPr>
          <a:xfrm>
            <a:off x="2011680" y="16106013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Cleared to fly again after a software fix [4]</a:t>
            </a:r>
            <a:endParaRPr lang="en-US" sz="2200" dirty="0"/>
          </a:p>
        </p:txBody>
      </p:sp>
      <p:sp>
        <p:nvSpPr>
          <p:cNvPr id="58" name="P1 node 5"/>
          <p:cNvSpPr/>
          <p:nvPr/>
        </p:nvSpPr>
        <p:spPr>
          <a:xfrm>
            <a:off x="1143000" y="17122140"/>
            <a:ext cx="493776" cy="49377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9" name="P1 date 5"/>
          <p:cNvSpPr txBox="1"/>
          <p:nvPr/>
        </p:nvSpPr>
        <p:spPr>
          <a:xfrm>
            <a:off x="2011680" y="17103852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Jan 2021</a:t>
            </a:r>
            <a:endParaRPr lang="en-US" sz="2800" dirty="0"/>
          </a:p>
        </p:txBody>
      </p:sp>
      <p:sp>
        <p:nvSpPr>
          <p:cNvPr id="60" name="P1 event 5"/>
          <p:cNvSpPr txBox="1"/>
          <p:nvPr/>
        </p:nvSpPr>
        <p:spPr>
          <a:xfrm>
            <a:off x="2011680" y="17597628"/>
            <a:ext cx="8040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Boeing pays $2.5bn to settle a US fraud charge [5]</a:t>
            </a:r>
            <a:endParaRPr lang="en-US" sz="2200" dirty="0"/>
          </a:p>
        </p:txBody>
      </p:sp>
      <p:pic>
        <p:nvPicPr>
          <p:cNvPr id="61" name="Fig1 AoA photo" descr="Angle-of-attack sensor on an airliner no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32159" y="11018520"/>
            <a:ext cx="4248760" cy="3840480"/>
          </a:xfrm>
          <a:prstGeom prst="rect">
            <a:avLst/>
          </a:prstGeom>
        </p:spPr>
      </p:pic>
      <p:sp>
        <p:nvSpPr>
          <p:cNvPr id="62" name="Fig1 caption"/>
          <p:cNvSpPr txBox="1"/>
          <p:nvPr/>
        </p:nvSpPr>
        <p:spPr>
          <a:xfrm>
            <a:off x="11332159" y="14950440"/>
            <a:ext cx="424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Fig.1  An angle-of-attack (AoA) sensor. MCAS trusted just one.</a:t>
            </a:r>
            <a:endParaRPr lang="en-US" sz="1600" dirty="0"/>
          </a:p>
        </p:txBody>
      </p:sp>
      <p:sp>
        <p:nvSpPr>
          <p:cNvPr id="63" name="P2 text"/>
          <p:cNvSpPr txBox="1"/>
          <p:nvPr/>
        </p:nvSpPr>
        <p:spPr>
          <a:xfrm>
            <a:off x="15992399" y="10972800"/>
            <a:ext cx="42487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tx2"/>
                </a:solidFill>
              </a:rPr>
              <a:t>Bigger engines made the MAX’s nose </a:t>
            </a:r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pitch up</a:t>
            </a:r>
            <a:pPr indent="0" marL="0">
              <a:buNone/>
            </a:pPr>
            <a:r>
              <a:rPr lang="en-US" sz="2500" dirty="0">
                <a:solidFill>
                  <a:schemeClr val="tx2"/>
                </a:solidFill>
              </a:rPr>
              <a:t>. Boeing added </a:t>
            </a:r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MCAS</a:t>
            </a:r>
            <a:pPr indent="0" marL="0">
              <a:buNone/>
            </a:pPr>
            <a:r>
              <a:rPr lang="en-US" sz="2500" dirty="0">
                <a:solidFill>
                  <a:schemeClr val="tx2"/>
                </a:solidFill>
              </a:rPr>
              <a:t> to push it back down automatically, so </a:t>
            </a:r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pilots wouldn’t need new simulator training.</a:t>
            </a:r>
            <a:endParaRPr lang="en-US" sz="2500" dirty="0"/>
          </a:p>
        </p:txBody>
      </p:sp>
      <p:sp>
        <p:nvSpPr>
          <p:cNvPr id="64" name="Fig2 code card"/>
          <p:cNvSpPr/>
          <p:nvPr/>
        </p:nvSpPr>
        <p:spPr>
          <a:xfrm>
            <a:off x="11332159" y="15636240"/>
            <a:ext cx="8908999" cy="240030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65" name="Fig2 code"/>
          <p:cNvSpPr txBox="1"/>
          <p:nvPr/>
        </p:nvSpPr>
        <p:spPr>
          <a:xfrm>
            <a:off x="11743639" y="15956280"/>
            <a:ext cx="8177479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(aoa &gt; LIMIT &amp;&amp; flapsUp)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trimNoseDown(</a:t>
            </a:r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</a:t>
            </a:r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8F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// degrees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8F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...repeats after pilot trims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2nd AoA sensor: never checked</a:t>
            </a:r>
            <a:endParaRPr lang="en-US" sz="2200" dirty="0"/>
          </a:p>
        </p:txBody>
      </p:sp>
      <p:sp>
        <p:nvSpPr>
          <p:cNvPr id="66" name="Fig2 caption"/>
          <p:cNvSpPr txBox="1"/>
          <p:nvPr/>
        </p:nvSpPr>
        <p:spPr>
          <a:xfrm>
            <a:off x="11743639" y="17487900"/>
            <a:ext cx="81774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Fig.2  How MCAS behaved (simplified illustration, not Boeing’s code)</a:t>
            </a:r>
            <a:endParaRPr lang="en-US" sz="1500" dirty="0"/>
          </a:p>
        </p:txBody>
      </p:sp>
      <p:sp>
        <p:nvSpPr>
          <p:cNvPr id="67" name="P3 disc 1"/>
          <p:cNvSpPr/>
          <p:nvPr/>
        </p:nvSpPr>
        <p:spPr>
          <a:xfrm>
            <a:off x="1143000" y="2068830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8" name="P3 icon 1" descr="One sensor, no cross-chec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48740" y="20894040"/>
            <a:ext cx="411480" cy="411480"/>
          </a:xfrm>
          <a:prstGeom prst="rect">
            <a:avLst/>
          </a:prstGeom>
        </p:spPr>
      </p:pic>
      <p:sp>
        <p:nvSpPr>
          <p:cNvPr id="69" name="P3 head 1"/>
          <p:cNvSpPr txBox="1"/>
          <p:nvPr/>
        </p:nvSpPr>
        <p:spPr>
          <a:xfrm>
            <a:off x="2148840" y="20706588"/>
            <a:ext cx="41613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One sensor, no cross-check</a:t>
            </a:r>
            <a:endParaRPr lang="en-US" sz="2200" dirty="0"/>
          </a:p>
        </p:txBody>
      </p:sp>
      <p:sp>
        <p:nvSpPr>
          <p:cNvPr id="70" name="P3 text 1"/>
          <p:cNvSpPr txBox="1"/>
          <p:nvPr/>
        </p:nvSpPr>
        <p:spPr>
          <a:xfrm>
            <a:off x="2148840" y="21191220"/>
            <a:ext cx="4161380" cy="120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A single point of failure that could push the nose down. [2]</a:t>
            </a:r>
            <a:endParaRPr lang="en-US" sz="1900" dirty="0"/>
          </a:p>
        </p:txBody>
      </p:sp>
      <p:sp>
        <p:nvSpPr>
          <p:cNvPr id="71" name="P3 disc 2"/>
          <p:cNvSpPr/>
          <p:nvPr/>
        </p:nvSpPr>
        <p:spPr>
          <a:xfrm>
            <a:off x="1143000" y="22442805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2" name="P3 icon 2" descr="The limit grew over 4×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48740" y="22648545"/>
            <a:ext cx="411480" cy="411480"/>
          </a:xfrm>
          <a:prstGeom prst="rect">
            <a:avLst/>
          </a:prstGeom>
        </p:spPr>
      </p:pic>
      <p:sp>
        <p:nvSpPr>
          <p:cNvPr id="73" name="P3 head 2"/>
          <p:cNvSpPr txBox="1"/>
          <p:nvPr/>
        </p:nvSpPr>
        <p:spPr>
          <a:xfrm>
            <a:off x="2148840" y="22461093"/>
            <a:ext cx="41613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The limit grew over 4×</a:t>
            </a:r>
            <a:endParaRPr lang="en-US" sz="2200" dirty="0"/>
          </a:p>
        </p:txBody>
      </p:sp>
      <p:sp>
        <p:nvSpPr>
          <p:cNvPr id="74" name="P3 text 2"/>
          <p:cNvSpPr txBox="1"/>
          <p:nvPr/>
        </p:nvSpPr>
        <p:spPr>
          <a:xfrm>
            <a:off x="2148840" y="22945725"/>
            <a:ext cx="4161380" cy="120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0.6° in the safety analysis, 2.5° in the final design. [2]</a:t>
            </a:r>
            <a:endParaRPr lang="en-US" sz="1900" dirty="0"/>
          </a:p>
        </p:txBody>
      </p:sp>
      <p:sp>
        <p:nvSpPr>
          <p:cNvPr id="75" name="P3 disc 3"/>
          <p:cNvSpPr/>
          <p:nvPr/>
        </p:nvSpPr>
        <p:spPr>
          <a:xfrm>
            <a:off x="1143000" y="2419731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6" name="P3 icon 3" descr="Pilots weren’t tol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48740" y="24403050"/>
            <a:ext cx="411480" cy="411480"/>
          </a:xfrm>
          <a:prstGeom prst="rect">
            <a:avLst/>
          </a:prstGeom>
        </p:spPr>
      </p:pic>
      <p:sp>
        <p:nvSpPr>
          <p:cNvPr id="77" name="P3 head 3"/>
          <p:cNvSpPr txBox="1"/>
          <p:nvPr/>
        </p:nvSpPr>
        <p:spPr>
          <a:xfrm>
            <a:off x="2148840" y="24215598"/>
            <a:ext cx="41613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Pilots weren’t told</a:t>
            </a:r>
            <a:endParaRPr lang="en-US" sz="2200" dirty="0"/>
          </a:p>
        </p:txBody>
      </p:sp>
      <p:sp>
        <p:nvSpPr>
          <p:cNvPr id="78" name="P3 text 3"/>
          <p:cNvSpPr txBox="1"/>
          <p:nvPr/>
        </p:nvSpPr>
        <p:spPr>
          <a:xfrm>
            <a:off x="2148840" y="24700230"/>
            <a:ext cx="4161380" cy="120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MCAS wasn’t in the pilot manuals. [3][4]</a:t>
            </a:r>
            <a:endParaRPr lang="en-US" sz="1900" dirty="0"/>
          </a:p>
        </p:txBody>
      </p:sp>
      <p:sp>
        <p:nvSpPr>
          <p:cNvPr id="79" name="P3 disc 4"/>
          <p:cNvSpPr/>
          <p:nvPr/>
        </p:nvSpPr>
        <p:spPr>
          <a:xfrm>
            <a:off x="1143000" y="25951815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0" name="P3 icon 4" descr="Training was a cos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48740" y="26157555"/>
            <a:ext cx="411480" cy="411480"/>
          </a:xfrm>
          <a:prstGeom prst="rect">
            <a:avLst/>
          </a:prstGeom>
        </p:spPr>
      </p:pic>
      <p:sp>
        <p:nvSpPr>
          <p:cNvPr id="81" name="P3 head 4"/>
          <p:cNvSpPr txBox="1"/>
          <p:nvPr/>
        </p:nvSpPr>
        <p:spPr>
          <a:xfrm>
            <a:off x="2148840" y="25970103"/>
            <a:ext cx="41613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Training was a cost</a:t>
            </a:r>
            <a:endParaRPr lang="en-US" sz="2200" dirty="0"/>
          </a:p>
        </p:txBody>
      </p:sp>
      <p:sp>
        <p:nvSpPr>
          <p:cNvPr id="82" name="P3 text 4"/>
          <p:cNvSpPr txBox="1"/>
          <p:nvPr/>
        </p:nvSpPr>
        <p:spPr>
          <a:xfrm>
            <a:off x="2148840" y="26454735"/>
            <a:ext cx="4161380" cy="1205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$1M per plane promised to Southwest if sim training was needed. [1]</a:t>
            </a:r>
            <a:endParaRPr lang="en-US" sz="1900" dirty="0"/>
          </a:p>
        </p:txBody>
      </p:sp>
      <p:sp>
        <p:nvSpPr>
          <p:cNvPr id="83" name="Fig3 chart card"/>
          <p:cNvSpPr/>
          <p:nvPr/>
        </p:nvSpPr>
        <p:spPr>
          <a:xfrm>
            <a:off x="6721700" y="20688300"/>
            <a:ext cx="3330300" cy="4297680"/>
          </a:xfrm>
          <a:prstGeom prst="roundRect">
            <a:avLst>
              <a:gd name="adj" fmla="val 5491"/>
            </a:avLst>
          </a:prstGeom>
          <a:solidFill>
            <a:schemeClr val="bg1"/>
          </a:solidFill>
          <a:ln/>
        </p:spPr>
      </p:sp>
      <p:graphicFrame>
        <p:nvGraphicFramePr>
          <p:cNvPr id="84" name="Fig3 chart" descr=""/>
          <p:cNvGraphicFramePr/>
          <p:nvPr/>
        </p:nvGraphicFramePr>
        <p:xfrm>
          <a:off x="6858860" y="20825460"/>
          <a:ext cx="305598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4"/>
          </a:graphicData>
        </a:graphic>
      </p:graphicFrame>
      <p:sp>
        <p:nvSpPr>
          <p:cNvPr id="85" name="Fig3 caption"/>
          <p:cNvSpPr txBox="1"/>
          <p:nvPr/>
        </p:nvSpPr>
        <p:spPr>
          <a:xfrm>
            <a:off x="6950300" y="24391620"/>
            <a:ext cx="287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Fig.3  The limit the FAA saw vs. what flew [2]</a:t>
            </a:r>
            <a:endParaRPr lang="en-US" sz="1500" dirty="0"/>
          </a:p>
        </p:txBody>
      </p:sp>
      <p:sp>
        <p:nvSpPr>
          <p:cNvPr id="86" name="P3 callout"/>
          <p:cNvSpPr/>
          <p:nvPr/>
        </p:nvSpPr>
        <p:spPr>
          <a:xfrm>
            <a:off x="6721700" y="25306020"/>
            <a:ext cx="3330300" cy="240030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/>
        </p:spPr>
      </p:sp>
      <p:sp>
        <p:nvSpPr>
          <p:cNvPr id="87" name="P3 callout text"/>
          <p:cNvSpPr txBox="1"/>
          <p:nvPr/>
        </p:nvSpPr>
        <p:spPr>
          <a:xfrm>
            <a:off x="7041740" y="25306020"/>
            <a:ext cx="2690220" cy="2400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</a:rPr>
              <a:t>Not a bug: the code did exactly what it was designed to do.</a:t>
            </a:r>
            <a:endParaRPr lang="en-US" sz="2500" dirty="0"/>
          </a:p>
        </p:txBody>
      </p:sp>
      <p:pic>
        <p:nvPicPr>
          <p:cNvPr id="88" name="Fig4 families photo" descr="Families holding photos of crash victim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32159" y="20688300"/>
            <a:ext cx="4248760" cy="3931920"/>
          </a:xfrm>
          <a:prstGeom prst="rect">
            <a:avLst/>
          </a:prstGeom>
        </p:spPr>
      </p:pic>
      <p:sp>
        <p:nvSpPr>
          <p:cNvPr id="89" name="Fig4 caption"/>
          <p:cNvSpPr txBox="1"/>
          <p:nvPr/>
        </p:nvSpPr>
        <p:spPr>
          <a:xfrm>
            <a:off x="11332159" y="24711660"/>
            <a:ext cx="424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Fig.4  Families holding photos of Ethiopian 302 victims</a:t>
            </a:r>
            <a:endParaRPr lang="en-US" sz="1600" dirty="0"/>
          </a:p>
        </p:txBody>
      </p:sp>
      <p:sp>
        <p:nvSpPr>
          <p:cNvPr id="90" name="P4 quote"/>
          <p:cNvSpPr txBox="1"/>
          <p:nvPr/>
        </p:nvSpPr>
        <p:spPr>
          <a:xfrm>
            <a:off x="15992399" y="20642580"/>
            <a:ext cx="424876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“A horrific culmination of a series of faulty technical assumptions by Boeing’s engineers, a lack of transparency … and grossly insufficient oversight by the FAA.”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US House Transportation Committee, 2020 [1]</a:t>
            </a:r>
            <a:endParaRPr lang="en-US" sz="2100" dirty="0"/>
          </a:p>
        </p:txBody>
      </p:sp>
      <p:sp>
        <p:nvSpPr>
          <p:cNvPr id="91" name="P4 ask heading"/>
          <p:cNvSpPr txBox="1"/>
          <p:nvPr/>
        </p:nvSpPr>
        <p:spPr>
          <a:xfrm>
            <a:off x="11332159" y="25397460"/>
            <a:ext cx="8908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</a:rPr>
              <a:t>Ask yourself:</a:t>
            </a:r>
            <a:endParaRPr lang="en-US" sz="2800" dirty="0"/>
          </a:p>
        </p:txBody>
      </p:sp>
      <p:sp>
        <p:nvSpPr>
          <p:cNvPr id="92" name="P4 questions"/>
          <p:cNvSpPr txBox="1"/>
          <p:nvPr/>
        </p:nvSpPr>
        <p:spPr>
          <a:xfrm>
            <a:off x="11332159" y="26037540"/>
            <a:ext cx="8908999" cy="166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500" b="1" dirty="0">
                <a:solidFill>
                  <a:schemeClr val="tx1"/>
                </a:solidFill>
              </a:rPr>
              <a:t>Would you ship code that trusts one sensor?</a:t>
            </a:r>
            <a:endParaRPr lang="en-US" sz="2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500" b="1" dirty="0">
                <a:solidFill>
                  <a:schemeClr val="tx1"/>
                </a:solidFill>
              </a:rPr>
              <a:t>If the requirement changes, does the safety analysis?</a:t>
            </a:r>
            <a:endParaRPr lang="en-US" sz="2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500" b="1" dirty="0">
                <a:solidFill>
                  <a:schemeClr val="tx1"/>
                </a:solidFill>
              </a:rPr>
              <a:t>If users don’t know your code exists, how can they fight it?</a:t>
            </a:r>
            <a:endParaRPr lang="en-US" sz="2500" dirty="0"/>
          </a:p>
        </p:txBody>
      </p:sp>
      <p:sp>
        <p:nvSpPr>
          <p:cNvPr id="93" name="Byline"/>
          <p:cNvSpPr txBox="1"/>
          <p:nvPr/>
        </p:nvSpPr>
        <p:spPr>
          <a:xfrm>
            <a:off x="731520" y="28392120"/>
            <a:ext cx="19921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[Your Name]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  ·  4th Year Software Development Student, SETU  ·  October 2026</a:t>
            </a:r>
            <a:endParaRPr lang="en-US" sz="1800" dirty="0"/>
          </a:p>
        </p:txBody>
      </p:sp>
      <p:sp>
        <p:nvSpPr>
          <p:cNvPr id="94" name="References left"/>
          <p:cNvSpPr txBox="1"/>
          <p:nvPr/>
        </p:nvSpPr>
        <p:spPr>
          <a:xfrm>
            <a:off x="731520" y="28895040"/>
            <a:ext cx="96862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[1] US House Committee on Transportation and Infrastructure (2020) Final Committee Report: The Design, Development &amp; Certification of the Boeing 737 MAX. September 2020.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[2] Gates, D. (2019) Flawed analysis, failed oversight: How Boeing, FAA certified the suspect 737 MAX flight control system. The Seattle Times, 17 March 2019.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[3] CNBC (2018) Optional warning light could have aided Lion Air before crash. CNBC, 30 November 2018.</a:t>
            </a:r>
            <a:endParaRPr lang="en-US" sz="1200" dirty="0"/>
          </a:p>
        </p:txBody>
      </p:sp>
      <p:sp>
        <p:nvSpPr>
          <p:cNvPr id="95" name="References right"/>
          <p:cNvSpPr txBox="1"/>
          <p:nvPr/>
        </p:nvSpPr>
        <p:spPr>
          <a:xfrm>
            <a:off x="10966399" y="28895040"/>
            <a:ext cx="96862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[4] Associated Press (2025) Timeline: Key events in the troubled history of the Boeing 737 Max jetliner. AP, September 2025.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[5] Reuters (2021) Boeing pays $2.5bn to settle US fraud charge over 737 MAX. Published via BusinessLIVE, 8 January 2021.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9C7D8"/>
                </a:solidFill>
              </a:rPr>
              <a:t>Photos: [add the source of each photo].   Icons: Font Awesome Free (CC BY 4.0).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eing MAX Poster">
  <a:themeElements>
    <a:clrScheme name="Boeing MAX Poster">
      <a:dk1>
        <a:srgbClr val="0B2545"/>
      </a:dk1>
      <a:lt1>
        <a:srgbClr val="FFFFFF"/>
      </a:lt1>
      <a:dk2>
        <a:srgbClr val="2E3A48"/>
      </a:dk2>
      <a:lt2>
        <a:srgbClr val="F4F7FB"/>
      </a:lt2>
      <a:accent1>
        <a:srgbClr val="D7263D"/>
      </a:accent1>
      <a:accent2>
        <a:srgbClr val="F2A900"/>
      </a:accent2>
      <a:accent3>
        <a:srgbClr val="1F6FB2"/>
      </a:accent3>
      <a:accent4>
        <a:srgbClr val="2A9D8F"/>
      </a:accent4>
      <a:accent5>
        <a:srgbClr val="5C6B7A"/>
      </a:accent5>
      <a:accent6>
        <a:srgbClr val="8DA9C4"/>
      </a:accent6>
      <a:hlink>
        <a:srgbClr val="1F6FB2"/>
      </a:hlink>
      <a:folHlink>
        <a:srgbClr val="5C6B7A"/>
      </a:folHlink>
    </a:clrScheme>
    <a:fontScheme name="Boeing MAX Post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Boeing 737 MAX: Bug or Business Decision?</dc:title>
  <dc:subject>PptxGenJS Presentation</dc:subject>
  <dc:creator>PptxGenJS</dc:creator>
  <cp:lastModifiedBy>PptxGenJS</cp:lastModifiedBy>
  <cp:revision>1</cp:revision>
  <dcterms:created xsi:type="dcterms:W3CDTF">2026-10-01T22:37:04Z</dcterms:created>
  <dcterms:modified xsi:type="dcterms:W3CDTF">2026-10-01T22:37:04Z</dcterms:modified>
</cp:coreProperties>
</file>