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5784" cy="21387816"/>
  <p:notesSz cx="21387816" cy="3027578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ster" id="{b2fd579c-fa7c-2b94-9423-b7ae9d011fd1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0B2545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0B2545"/>
                </a:solidFill>
                <a:latin typeface="+mn-lt"/>
              </a:rPr>
              <a:t>MCAS nose-down trim per activation (degrees)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Max nose-down trim per activation</c:v>
                </c:pt>
              </c:strCache>
            </c:strRef>
          </c:tx>
          <c:spPr>
            <a:solidFill>
              <a:srgbClr val="8DA9C4"/>
            </a:solidFill>
            <a:effectLst/>
          </c:spPr>
          <c:invertIfNegative val="0"/>
          <c:dLbls>
            <c:numFmt formatCode="0.0&quot;°&quot;" sourceLinked="0"/>
            <c:txPr>
              <a:bodyPr/>
              <a:lstStyle/>
              <a:p>
                <a:pPr>
                  <a:defRPr b="1" i="0" strike="noStrike" sz="2000" u="none">
                    <a:solidFill>
                      <a:srgbClr val="0B254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DA9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7263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Safety analysis seen by FAA</c:v>
                  </c:pt>
                  <c:pt idx="1">
                    <c:v>Final design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0.6</c:v>
                </c:pt>
                <c:pt idx="1">
                  <c:v>2.5</c:v>
                </c:pt>
              </c:numCache>
            </c:numRef>
          </c:val>
        </c:ser>
        <c:dLbls>
          <c:numFmt formatCode="0.0&quot;°&quot;" sourceLinked="0"/>
          <c:txPr>
            <a:bodyPr/>
            <a:lstStyle/>
            <a:p>
              <a:pPr>
                <a:defRPr b="1" i="0" strike="noStrike" sz="2000" u="none">
                  <a:solidFill>
                    <a:srgbClr val="0B254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2E3A4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chart" Target="/ppt/charts/chart1.xml"/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jp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7" Type="http://schemas.openxmlformats.org/officeDocument/2006/relationships/image" Target="../media/image-1-6.png"/><Relationship Id="rId8" Type="http://schemas.openxmlformats.org/officeDocument/2006/relationships/image" Target="../media/image-1-7.png"/><Relationship Id="rId9" Type="http://schemas.openxmlformats.org/officeDocument/2006/relationships/image" Target="../media/image-1-8.jp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ader photo" descr="Rows of grounded Boeing 737 MAX jet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0275784" cy="4480560"/>
          </a:xfrm>
          <a:prstGeom prst="rect">
            <a:avLst/>
          </a:prstGeom>
        </p:spPr>
      </p:pic>
      <p:sp>
        <p:nvSpPr>
          <p:cNvPr id="3" name="Header overlay"/>
          <p:cNvSpPr/>
          <p:nvPr/>
        </p:nvSpPr>
        <p:spPr>
          <a:xfrm>
            <a:off x="0" y="0"/>
            <a:ext cx="30275784" cy="4480560"/>
          </a:xfrm>
          <a:prstGeom prst="rect">
            <a:avLst/>
          </a:prstGeom>
          <a:solidFill>
            <a:schemeClr val="tx1">
              <a:alpha val="68000"/>
            </a:schemeClr>
          </a:solidFill>
          <a:ln/>
        </p:spPr>
      </p:sp>
      <p:sp>
        <p:nvSpPr>
          <p:cNvPr id="4" name="Tag line"/>
          <p:cNvSpPr txBox="1"/>
          <p:nvPr/>
        </p:nvSpPr>
        <p:spPr>
          <a:xfrm>
            <a:off x="731520" y="457200"/>
            <a:ext cx="1828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chemeClr val="accent2"/>
                </a:solidFill>
              </a:rPr>
              <a:t>A US STORY  ·  BOEING &amp; THE FAA  ·  2018–2020</a:t>
            </a:r>
            <a:endParaRPr lang="en-US" sz="2200" dirty="0"/>
          </a:p>
        </p:txBody>
      </p:sp>
      <p:sp>
        <p:nvSpPr>
          <p:cNvPr id="5" name="Title"/>
          <p:cNvSpPr txBox="1"/>
          <p:nvPr/>
        </p:nvSpPr>
        <p:spPr>
          <a:xfrm>
            <a:off x="731520" y="914400"/>
            <a:ext cx="2194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0" b="1" dirty="0">
                <a:solidFill>
                  <a:schemeClr val="bg1"/>
                </a:solidFill>
              </a:rPr>
              <a:t>Boeing 737 MAX</a:t>
            </a:r>
            <a:endParaRPr lang="en-US" sz="10400" dirty="0"/>
          </a:p>
        </p:txBody>
      </p:sp>
      <p:sp>
        <p:nvSpPr>
          <p:cNvPr id="6" name="Subtitle"/>
          <p:cNvSpPr txBox="1"/>
          <p:nvPr/>
        </p:nvSpPr>
        <p:spPr>
          <a:xfrm>
            <a:off x="731520" y="2377440"/>
            <a:ext cx="2194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0" b="1" dirty="0">
                <a:solidFill>
                  <a:schemeClr val="accent2"/>
                </a:solidFill>
              </a:rPr>
              <a:t>Bug or Business Decision?</a:t>
            </a:r>
            <a:endParaRPr lang="en-US" sz="6200" dirty="0"/>
          </a:p>
        </p:txBody>
      </p:sp>
      <p:sp>
        <p:nvSpPr>
          <p:cNvPr id="7" name="Byline"/>
          <p:cNvSpPr txBox="1"/>
          <p:nvPr/>
        </p:nvSpPr>
        <p:spPr>
          <a:xfrm>
            <a:off x="731520" y="3520440"/>
            <a:ext cx="2194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bg1"/>
                </a:solidFill>
              </a:rPr>
              <a:t>[Your Name]  ·  4th Year Software Development Student, SETU  ·  October 2026</a:t>
            </a:r>
            <a:endParaRPr lang="en-US" sz="2600" dirty="0"/>
          </a:p>
        </p:txBody>
      </p:sp>
      <p:sp>
        <p:nvSpPr>
          <p:cNvPr id="8" name="Badge disc"/>
          <p:cNvSpPr/>
          <p:nvPr/>
        </p:nvSpPr>
        <p:spPr>
          <a:xfrm>
            <a:off x="25795224" y="365760"/>
            <a:ext cx="3749040" cy="3749040"/>
          </a:xfrm>
          <a:prstGeom prst="ellipse">
            <a:avLst/>
          </a:prstGeom>
          <a:solidFill>
            <a:schemeClr val="accent1"/>
          </a:solidFill>
          <a:ln w="762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Badge number"/>
          <p:cNvSpPr txBox="1"/>
          <p:nvPr/>
        </p:nvSpPr>
        <p:spPr>
          <a:xfrm>
            <a:off x="25795224" y="105156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0" b="1" dirty="0">
                <a:solidFill>
                  <a:schemeClr val="bg1"/>
                </a:solidFill>
              </a:rPr>
              <a:t>346</a:t>
            </a:r>
            <a:endParaRPr lang="en-US" sz="11000" dirty="0"/>
          </a:p>
        </p:txBody>
      </p:sp>
      <p:sp>
        <p:nvSpPr>
          <p:cNvPr id="10" name="Badge label"/>
          <p:cNvSpPr txBox="1"/>
          <p:nvPr/>
        </p:nvSpPr>
        <p:spPr>
          <a:xfrm>
            <a:off x="25795224" y="26060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lives lost</a:t>
            </a:r>
            <a:endParaRPr lang="en-US" sz="3400" dirty="0"/>
          </a:p>
        </p:txBody>
      </p:sp>
      <p:sp>
        <p:nvSpPr>
          <p:cNvPr id="11" name="Panel 1"/>
          <p:cNvSpPr/>
          <p:nvPr/>
        </p:nvSpPr>
        <p:spPr>
          <a:xfrm>
            <a:off x="731520" y="4892040"/>
            <a:ext cx="6860286" cy="14721840"/>
          </a:xfrm>
          <a:prstGeom prst="roundRect">
            <a:avLst>
              <a:gd name="adj" fmla="val 3999"/>
            </a:avLst>
          </a:prstGeom>
          <a:solidFill>
            <a:srgbClr val="E1EDF8"/>
          </a:solidFill>
          <a:ln/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sp>
        <p:nvSpPr>
          <p:cNvPr id="12" name="Panel number disc 1"/>
          <p:cNvSpPr/>
          <p:nvPr/>
        </p:nvSpPr>
        <p:spPr>
          <a:xfrm>
            <a:off x="1097280" y="5257800"/>
            <a:ext cx="1051560" cy="1051560"/>
          </a:xfrm>
          <a:prstGeom prst="ellipse">
            <a:avLst/>
          </a:prstGeom>
          <a:solidFill>
            <a:srgbClr val="1F6FB2"/>
          </a:solidFill>
          <a:ln/>
        </p:spPr>
      </p:sp>
      <p:sp>
        <p:nvSpPr>
          <p:cNvPr id="13" name="Panel number 1"/>
          <p:cNvSpPr txBox="1"/>
          <p:nvPr/>
        </p:nvSpPr>
        <p:spPr>
          <a:xfrm>
            <a:off x="1097280" y="52578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</a:t>
            </a:r>
            <a:endParaRPr lang="en-US" sz="4400" dirty="0"/>
          </a:p>
        </p:txBody>
      </p:sp>
      <p:sp>
        <p:nvSpPr>
          <p:cNvPr id="14" name="Panel title 1"/>
          <p:cNvSpPr txBox="1"/>
          <p:nvPr/>
        </p:nvSpPr>
        <p:spPr>
          <a:xfrm>
            <a:off x="2377440" y="5212080"/>
            <a:ext cx="484860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happened?</a:t>
            </a:r>
            <a:endParaRPr lang="en-US" sz="3200" dirty="0"/>
          </a:p>
        </p:txBody>
      </p:sp>
      <p:sp>
        <p:nvSpPr>
          <p:cNvPr id="15" name="Panel 2"/>
          <p:cNvSpPr/>
          <p:nvPr/>
        </p:nvSpPr>
        <p:spPr>
          <a:xfrm>
            <a:off x="8049006" y="4892040"/>
            <a:ext cx="6860286" cy="14721840"/>
          </a:xfrm>
          <a:prstGeom prst="roundRect">
            <a:avLst>
              <a:gd name="adj" fmla="val 3999"/>
            </a:avLst>
          </a:prstGeom>
          <a:solidFill>
            <a:srgbClr val="FFF3D6"/>
          </a:solidFill>
          <a:ln/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Panel number disc 2"/>
          <p:cNvSpPr/>
          <p:nvPr/>
        </p:nvSpPr>
        <p:spPr>
          <a:xfrm>
            <a:off x="8414766" y="5257800"/>
            <a:ext cx="1051560" cy="105156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7" name="Panel number 2"/>
          <p:cNvSpPr txBox="1"/>
          <p:nvPr/>
        </p:nvSpPr>
        <p:spPr>
          <a:xfrm>
            <a:off x="8414766" y="52578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2</a:t>
            </a:r>
            <a:endParaRPr lang="en-US" sz="4400" dirty="0"/>
          </a:p>
        </p:txBody>
      </p:sp>
      <p:sp>
        <p:nvSpPr>
          <p:cNvPr id="18" name="Panel title 2"/>
          <p:cNvSpPr txBox="1"/>
          <p:nvPr/>
        </p:nvSpPr>
        <p:spPr>
          <a:xfrm>
            <a:off x="9694926" y="5212080"/>
            <a:ext cx="484860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hidden software: MCAS</a:t>
            </a:r>
            <a:endParaRPr lang="en-US" sz="3200" dirty="0"/>
          </a:p>
        </p:txBody>
      </p:sp>
      <p:sp>
        <p:nvSpPr>
          <p:cNvPr id="19" name="Panel 3"/>
          <p:cNvSpPr/>
          <p:nvPr/>
        </p:nvSpPr>
        <p:spPr>
          <a:xfrm>
            <a:off x="15366492" y="4892040"/>
            <a:ext cx="6860286" cy="14721840"/>
          </a:xfrm>
          <a:prstGeom prst="roundRect">
            <a:avLst>
              <a:gd name="adj" fmla="val 3999"/>
            </a:avLst>
          </a:prstGeom>
          <a:solidFill>
            <a:srgbClr val="FBE3E6"/>
          </a:solidFill>
          <a:ln/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sp>
        <p:nvSpPr>
          <p:cNvPr id="20" name="Panel number disc 3"/>
          <p:cNvSpPr/>
          <p:nvPr/>
        </p:nvSpPr>
        <p:spPr>
          <a:xfrm>
            <a:off x="15732252" y="5257800"/>
            <a:ext cx="1051560" cy="1051560"/>
          </a:xfrm>
          <a:prstGeom prst="ellipse">
            <a:avLst/>
          </a:prstGeom>
          <a:solidFill>
            <a:srgbClr val="D7263D"/>
          </a:solidFill>
          <a:ln/>
        </p:spPr>
      </p:sp>
      <p:sp>
        <p:nvSpPr>
          <p:cNvPr id="21" name="Panel number 3"/>
          <p:cNvSpPr txBox="1"/>
          <p:nvPr/>
        </p:nvSpPr>
        <p:spPr>
          <a:xfrm>
            <a:off x="15732252" y="52578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3</a:t>
            </a:r>
            <a:endParaRPr lang="en-US" sz="4400" dirty="0"/>
          </a:p>
        </p:txBody>
      </p:sp>
      <p:sp>
        <p:nvSpPr>
          <p:cNvPr id="22" name="Panel title 3"/>
          <p:cNvSpPr txBox="1"/>
          <p:nvPr/>
        </p:nvSpPr>
        <p:spPr>
          <a:xfrm>
            <a:off x="17012412" y="5212080"/>
            <a:ext cx="484860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Bug or business decision?</a:t>
            </a:r>
            <a:endParaRPr lang="en-US" sz="3200" dirty="0"/>
          </a:p>
        </p:txBody>
      </p:sp>
      <p:sp>
        <p:nvSpPr>
          <p:cNvPr id="23" name="Panel 4"/>
          <p:cNvSpPr/>
          <p:nvPr/>
        </p:nvSpPr>
        <p:spPr>
          <a:xfrm>
            <a:off x="22683978" y="4892040"/>
            <a:ext cx="6860286" cy="14721840"/>
          </a:xfrm>
          <a:prstGeom prst="roundRect">
            <a:avLst>
              <a:gd name="adj" fmla="val 3999"/>
            </a:avLst>
          </a:prstGeom>
          <a:solidFill>
            <a:srgbClr val="DDF1EE"/>
          </a:solidFill>
          <a:ln/>
          <a:effectLst>
            <a:outerShdw sx="100000" sy="100000" kx="0" ky="0" algn="bl" rotWithShape="0" blurRad="127000" dist="38100" dir="5400000">
              <a:srgbClr val="000000">
                <a:alpha val="12000"/>
              </a:srgbClr>
            </a:outerShdw>
          </a:effectLst>
        </p:spPr>
      </p:sp>
      <p:sp>
        <p:nvSpPr>
          <p:cNvPr id="24" name="Panel number disc 4"/>
          <p:cNvSpPr/>
          <p:nvPr/>
        </p:nvSpPr>
        <p:spPr>
          <a:xfrm>
            <a:off x="23049738" y="5257800"/>
            <a:ext cx="1051560" cy="105156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25" name="Panel number 4"/>
          <p:cNvSpPr txBox="1"/>
          <p:nvPr/>
        </p:nvSpPr>
        <p:spPr>
          <a:xfrm>
            <a:off x="23049738" y="52578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4</a:t>
            </a:r>
            <a:endParaRPr lang="en-US" sz="4400" dirty="0"/>
          </a:p>
        </p:txBody>
      </p:sp>
      <p:sp>
        <p:nvSpPr>
          <p:cNvPr id="26" name="Panel title 4"/>
          <p:cNvSpPr txBox="1"/>
          <p:nvPr/>
        </p:nvSpPr>
        <p:spPr>
          <a:xfrm>
            <a:off x="24329898" y="5212080"/>
            <a:ext cx="484860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should developers learn?</a:t>
            </a:r>
            <a:endParaRPr lang="en-US" sz="3200" dirty="0"/>
          </a:p>
        </p:txBody>
      </p:sp>
      <p:sp>
        <p:nvSpPr>
          <p:cNvPr id="27" name="P1 lead"/>
          <p:cNvSpPr txBox="1"/>
          <p:nvPr/>
        </p:nvSpPr>
        <p:spPr>
          <a:xfrm>
            <a:off x="1097280" y="6675120"/>
            <a:ext cx="612876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tx2"/>
                </a:solidFill>
              </a:rPr>
              <a:t>Two new </a:t>
            </a:r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Boeing 737 MAX</a:t>
            </a:r>
            <a:pPr indent="0" marL="0">
              <a:buNone/>
            </a:pPr>
            <a:r>
              <a:rPr lang="en-US" sz="2400" dirty="0">
                <a:solidFill>
                  <a:schemeClr val="tx2"/>
                </a:solidFill>
              </a:rPr>
              <a:t> jets crashed minutes after take-off, </a:t>
            </a:r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less than five months apart.</a:t>
            </a:r>
            <a:endParaRPr lang="en-US" sz="2400" dirty="0"/>
          </a:p>
        </p:txBody>
      </p:sp>
      <p:sp>
        <p:nvSpPr>
          <p:cNvPr id="28" name="P1 timeline axis"/>
          <p:cNvSpPr/>
          <p:nvPr/>
        </p:nvSpPr>
        <p:spPr>
          <a:xfrm>
            <a:off x="1298448" y="8430768"/>
            <a:ext cx="0" cy="6291072"/>
          </a:xfrm>
          <a:prstGeom prst="line">
            <a:avLst/>
          </a:prstGeom>
          <a:noFill/>
          <a:ln w="50800">
            <a:solidFill>
              <a:schemeClr val="accent6"/>
            </a:solidFill>
            <a:prstDash val="solid"/>
          </a:ln>
        </p:spPr>
      </p:sp>
      <p:sp>
        <p:nvSpPr>
          <p:cNvPr id="29" name="P1 node 1"/>
          <p:cNvSpPr/>
          <p:nvPr/>
        </p:nvSpPr>
        <p:spPr>
          <a:xfrm>
            <a:off x="1097280" y="8229600"/>
            <a:ext cx="402336" cy="402336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30" name="P1 date 1"/>
          <p:cNvSpPr txBox="1"/>
          <p:nvPr/>
        </p:nvSpPr>
        <p:spPr>
          <a:xfrm>
            <a:off x="1828800" y="8183880"/>
            <a:ext cx="53972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29 Oct 2018</a:t>
            </a:r>
            <a:endParaRPr lang="en-US" sz="2600" dirty="0"/>
          </a:p>
        </p:txBody>
      </p:sp>
      <p:sp>
        <p:nvSpPr>
          <p:cNvPr id="31" name="P1 event 1"/>
          <p:cNvSpPr txBox="1"/>
          <p:nvPr/>
        </p:nvSpPr>
        <p:spPr>
          <a:xfrm>
            <a:off x="1828800" y="8686800"/>
            <a:ext cx="539724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2"/>
                </a:solidFill>
              </a:rPr>
              <a:t>Lion Air 610, Indonesia: 189 killed [4]</a:t>
            </a:r>
            <a:endParaRPr lang="en-US" sz="2100" dirty="0"/>
          </a:p>
        </p:txBody>
      </p:sp>
      <p:sp>
        <p:nvSpPr>
          <p:cNvPr id="32" name="P1 node 2"/>
          <p:cNvSpPr/>
          <p:nvPr/>
        </p:nvSpPr>
        <p:spPr>
          <a:xfrm>
            <a:off x="1097280" y="9802368"/>
            <a:ext cx="402336" cy="402336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33" name="P1 date 2"/>
          <p:cNvSpPr txBox="1"/>
          <p:nvPr/>
        </p:nvSpPr>
        <p:spPr>
          <a:xfrm>
            <a:off x="1828800" y="9756648"/>
            <a:ext cx="53972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10 Mar 2019</a:t>
            </a:r>
            <a:endParaRPr lang="en-US" sz="2600" dirty="0"/>
          </a:p>
        </p:txBody>
      </p:sp>
      <p:sp>
        <p:nvSpPr>
          <p:cNvPr id="34" name="P1 event 2"/>
          <p:cNvSpPr txBox="1"/>
          <p:nvPr/>
        </p:nvSpPr>
        <p:spPr>
          <a:xfrm>
            <a:off x="1828800" y="10259568"/>
            <a:ext cx="539724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2"/>
                </a:solidFill>
              </a:rPr>
              <a:t>Ethiopian Airlines 302: 157 killed [4]</a:t>
            </a:r>
            <a:endParaRPr lang="en-US" sz="2100" dirty="0"/>
          </a:p>
        </p:txBody>
      </p:sp>
      <p:sp>
        <p:nvSpPr>
          <p:cNvPr id="35" name="P1 node 3"/>
          <p:cNvSpPr/>
          <p:nvPr/>
        </p:nvSpPr>
        <p:spPr>
          <a:xfrm>
            <a:off x="1097280" y="11375136"/>
            <a:ext cx="402336" cy="40233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36" name="P1 date 3"/>
          <p:cNvSpPr txBox="1"/>
          <p:nvPr/>
        </p:nvSpPr>
        <p:spPr>
          <a:xfrm>
            <a:off x="1828800" y="11329416"/>
            <a:ext cx="53972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13 Mar 2019</a:t>
            </a:r>
            <a:endParaRPr lang="en-US" sz="2600" dirty="0"/>
          </a:p>
        </p:txBody>
      </p:sp>
      <p:sp>
        <p:nvSpPr>
          <p:cNvPr id="37" name="P1 event 3"/>
          <p:cNvSpPr txBox="1"/>
          <p:nvPr/>
        </p:nvSpPr>
        <p:spPr>
          <a:xfrm>
            <a:off x="1828800" y="11832336"/>
            <a:ext cx="539724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2"/>
                </a:solidFill>
              </a:rPr>
              <a:t>The FAA grounds the 737 MAX in the US [4]</a:t>
            </a:r>
            <a:endParaRPr lang="en-US" sz="2100" dirty="0"/>
          </a:p>
        </p:txBody>
      </p:sp>
      <p:sp>
        <p:nvSpPr>
          <p:cNvPr id="38" name="P1 node 4"/>
          <p:cNvSpPr/>
          <p:nvPr/>
        </p:nvSpPr>
        <p:spPr>
          <a:xfrm>
            <a:off x="1097280" y="12947904"/>
            <a:ext cx="402336" cy="40233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39" name="P1 date 4"/>
          <p:cNvSpPr txBox="1"/>
          <p:nvPr/>
        </p:nvSpPr>
        <p:spPr>
          <a:xfrm>
            <a:off x="1828800" y="12902184"/>
            <a:ext cx="53972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18 Nov 2020</a:t>
            </a:r>
            <a:endParaRPr lang="en-US" sz="2600" dirty="0"/>
          </a:p>
        </p:txBody>
      </p:sp>
      <p:sp>
        <p:nvSpPr>
          <p:cNvPr id="40" name="P1 event 4"/>
          <p:cNvSpPr txBox="1"/>
          <p:nvPr/>
        </p:nvSpPr>
        <p:spPr>
          <a:xfrm>
            <a:off x="1828800" y="13405104"/>
            <a:ext cx="539724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2"/>
                </a:solidFill>
              </a:rPr>
              <a:t>Cleared to fly again after a software fix [4]</a:t>
            </a:r>
            <a:endParaRPr lang="en-US" sz="2100" dirty="0"/>
          </a:p>
        </p:txBody>
      </p:sp>
      <p:sp>
        <p:nvSpPr>
          <p:cNvPr id="41" name="P1 node 5"/>
          <p:cNvSpPr/>
          <p:nvPr/>
        </p:nvSpPr>
        <p:spPr>
          <a:xfrm>
            <a:off x="1097280" y="14520672"/>
            <a:ext cx="402336" cy="40233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  <a:prstDash val="solid"/>
          </a:ln>
        </p:spPr>
      </p:sp>
      <p:sp>
        <p:nvSpPr>
          <p:cNvPr id="42" name="P1 date 5"/>
          <p:cNvSpPr txBox="1"/>
          <p:nvPr/>
        </p:nvSpPr>
        <p:spPr>
          <a:xfrm>
            <a:off x="1828800" y="14474952"/>
            <a:ext cx="53972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Jan 2021</a:t>
            </a:r>
            <a:endParaRPr lang="en-US" sz="2600" dirty="0"/>
          </a:p>
        </p:txBody>
      </p:sp>
      <p:sp>
        <p:nvSpPr>
          <p:cNvPr id="43" name="P1 event 5"/>
          <p:cNvSpPr txBox="1"/>
          <p:nvPr/>
        </p:nvSpPr>
        <p:spPr>
          <a:xfrm>
            <a:off x="1828800" y="14977872"/>
            <a:ext cx="539724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chemeClr val="tx2"/>
                </a:solidFill>
              </a:rPr>
              <a:t>Boeing pays $2.5bn to settle a US fraud charge [5]</a:t>
            </a:r>
            <a:endParaRPr lang="en-US" sz="2100" dirty="0"/>
          </a:p>
        </p:txBody>
      </p:sp>
      <p:sp>
        <p:nvSpPr>
          <p:cNvPr id="44" name="P1 note card"/>
          <p:cNvSpPr/>
          <p:nvPr/>
        </p:nvSpPr>
        <p:spPr>
          <a:xfrm>
            <a:off x="1097280" y="16276320"/>
            <a:ext cx="6128766" cy="297180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/>
        </p:spPr>
      </p:sp>
      <p:pic>
        <p:nvPicPr>
          <p:cNvPr id="45" name="P1 note icon" descr="US flag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7350740"/>
            <a:ext cx="822960" cy="822960"/>
          </a:xfrm>
          <a:prstGeom prst="rect">
            <a:avLst/>
          </a:prstGeom>
        </p:spPr>
      </p:pic>
      <p:sp>
        <p:nvSpPr>
          <p:cNvPr id="46" name="P1 note text"/>
          <p:cNvSpPr txBox="1"/>
          <p:nvPr/>
        </p:nvSpPr>
        <p:spPr>
          <a:xfrm>
            <a:off x="2514600" y="16276320"/>
            <a:ext cx="4437126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An American story: </a:t>
            </a:r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Boeing and its regulator, the FAA, are both US-based.</a:t>
            </a:r>
            <a:endParaRPr lang="en-US" sz="2400" dirty="0"/>
          </a:p>
        </p:txBody>
      </p:sp>
      <p:pic>
        <p:nvPicPr>
          <p:cNvPr id="47" name="Fig1 AoA photo" descr="Angle-of-attack sensor on an airliner nose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414766" y="6675120"/>
            <a:ext cx="6128766" cy="5486400"/>
          </a:xfrm>
          <a:prstGeom prst="rect">
            <a:avLst/>
          </a:prstGeom>
        </p:spPr>
      </p:pic>
      <p:sp>
        <p:nvSpPr>
          <p:cNvPr id="48" name="Fig1 caption"/>
          <p:cNvSpPr txBox="1"/>
          <p:nvPr/>
        </p:nvSpPr>
        <p:spPr>
          <a:xfrm>
            <a:off x="8414766" y="12252960"/>
            <a:ext cx="61287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Fig.1  An angle-of-attack (AoA) sensor. MCAS trusted just one.</a:t>
            </a:r>
            <a:endParaRPr lang="en-US" sz="1600" dirty="0"/>
          </a:p>
        </p:txBody>
      </p:sp>
      <p:sp>
        <p:nvSpPr>
          <p:cNvPr id="49" name="P2 text"/>
          <p:cNvSpPr txBox="1"/>
          <p:nvPr/>
        </p:nvSpPr>
        <p:spPr>
          <a:xfrm>
            <a:off x="8414766" y="12847320"/>
            <a:ext cx="612876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dirty="0">
                <a:solidFill>
                  <a:schemeClr val="tx2"/>
                </a:solidFill>
              </a:rPr>
              <a:t>Bigger engines, mounted further forward, made the MAX’s nose </a:t>
            </a:r>
            <a:pPr indent="0" marL="0">
              <a:buNone/>
            </a:pPr>
            <a:r>
              <a:rPr lang="en-US" sz="2500" b="1" dirty="0">
                <a:solidFill>
                  <a:schemeClr val="tx2"/>
                </a:solidFill>
              </a:rPr>
              <a:t>pitch up</a:t>
            </a:r>
            <a:pPr indent="0" marL="0">
              <a:buNone/>
            </a:pPr>
            <a:r>
              <a:rPr lang="en-US" sz="2500" dirty="0">
                <a:solidFill>
                  <a:schemeClr val="tx2"/>
                </a:solidFill>
              </a:rPr>
              <a:t>. Boeing added software, </a:t>
            </a:r>
            <a:pPr indent="0" marL="0">
              <a:buNone/>
            </a:pPr>
            <a:r>
              <a:rPr lang="en-US" sz="2500" b="1" dirty="0">
                <a:solidFill>
                  <a:schemeClr val="tx2"/>
                </a:solidFill>
              </a:rPr>
              <a:t>MCAS</a:t>
            </a:r>
            <a:pPr indent="0" marL="0">
              <a:buNone/>
            </a:pPr>
            <a:r>
              <a:rPr lang="en-US" sz="2500" dirty="0">
                <a:solidFill>
                  <a:schemeClr val="tx2"/>
                </a:solidFill>
              </a:rPr>
              <a:t>, to push it back down automatically, so the MAX handled like the old 737 and </a:t>
            </a:r>
            <a:pPr indent="0" marL="0">
              <a:buNone/>
            </a:pPr>
            <a:r>
              <a:rPr lang="en-US" sz="2500" b="1" dirty="0">
                <a:solidFill>
                  <a:schemeClr val="tx2"/>
                </a:solidFill>
              </a:rPr>
              <a:t>pilots wouldn’t need simulator training.</a:t>
            </a:r>
            <a:endParaRPr lang="en-US" sz="2500" dirty="0"/>
          </a:p>
        </p:txBody>
      </p:sp>
      <p:sp>
        <p:nvSpPr>
          <p:cNvPr id="50" name="Fig2 code card"/>
          <p:cNvSpPr/>
          <p:nvPr/>
        </p:nvSpPr>
        <p:spPr>
          <a:xfrm>
            <a:off x="8414766" y="15727680"/>
            <a:ext cx="6128766" cy="3520440"/>
          </a:xfrm>
          <a:prstGeom prst="roundRect">
            <a:avLst>
              <a:gd name="adj" fmla="val 5195"/>
            </a:avLst>
          </a:prstGeom>
          <a:solidFill>
            <a:schemeClr val="tx1"/>
          </a:solidFill>
          <a:ln/>
        </p:spPr>
      </p:sp>
      <p:sp>
        <p:nvSpPr>
          <p:cNvPr id="51" name="Fig2 code"/>
          <p:cNvSpPr txBox="1"/>
          <p:nvPr/>
        </p:nvSpPr>
        <p:spPr>
          <a:xfrm>
            <a:off x="8734806" y="16002000"/>
            <a:ext cx="5580126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8FB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Simplified illustration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(aoa &gt; LIMIT &amp;&amp; flapsUp)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trimNoseDown(</a:t>
            </a:r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2A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2.5</a:t>
            </a:r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8FB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 // degrees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8FB8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   // ...repeats after pilot trims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FF8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2nd AoA sensor: never checked</a:t>
            </a:r>
            <a:endParaRPr lang="en-US" sz="2000" dirty="0"/>
          </a:p>
        </p:txBody>
      </p:sp>
      <p:sp>
        <p:nvSpPr>
          <p:cNvPr id="52" name="Fig2 caption"/>
          <p:cNvSpPr txBox="1"/>
          <p:nvPr/>
        </p:nvSpPr>
        <p:spPr>
          <a:xfrm>
            <a:off x="8734806" y="18699480"/>
            <a:ext cx="558012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Fig.2  How MCAS behaved (simplified, not Boeing’s code)</a:t>
            </a:r>
            <a:endParaRPr lang="en-US" sz="1500" dirty="0"/>
          </a:p>
        </p:txBody>
      </p:sp>
      <p:sp>
        <p:nvSpPr>
          <p:cNvPr id="53" name="P3 disc 1"/>
          <p:cNvSpPr/>
          <p:nvPr/>
        </p:nvSpPr>
        <p:spPr>
          <a:xfrm>
            <a:off x="15732252" y="667512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4" name="P3 icon 1" descr="One sensor, no cross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51708" y="6894576"/>
            <a:ext cx="429768" cy="429768"/>
          </a:xfrm>
          <a:prstGeom prst="rect">
            <a:avLst/>
          </a:prstGeom>
        </p:spPr>
      </p:pic>
      <p:sp>
        <p:nvSpPr>
          <p:cNvPr id="55" name="P3 head 1"/>
          <p:cNvSpPr txBox="1"/>
          <p:nvPr/>
        </p:nvSpPr>
        <p:spPr>
          <a:xfrm>
            <a:off x="16829532" y="6693408"/>
            <a:ext cx="50314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tx1"/>
                </a:solidFill>
              </a:rPr>
              <a:t>One sensor, no cross-check</a:t>
            </a:r>
            <a:endParaRPr lang="en-US" sz="2500" dirty="0"/>
          </a:p>
        </p:txBody>
      </p:sp>
      <p:sp>
        <p:nvSpPr>
          <p:cNvPr id="56" name="P3 text 1"/>
          <p:cNvSpPr txBox="1"/>
          <p:nvPr/>
        </p:nvSpPr>
        <p:spPr>
          <a:xfrm>
            <a:off x="16829532" y="7205472"/>
            <a:ext cx="50314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A single point of failure in a system that could push the nose down. [2]</a:t>
            </a:r>
            <a:endParaRPr lang="en-US" sz="2000" dirty="0"/>
          </a:p>
        </p:txBody>
      </p:sp>
      <p:sp>
        <p:nvSpPr>
          <p:cNvPr id="57" name="P3 disc 2"/>
          <p:cNvSpPr/>
          <p:nvPr/>
        </p:nvSpPr>
        <p:spPr>
          <a:xfrm>
            <a:off x="15732252" y="845820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8" name="P3 icon 2" descr="The limit grew over 4×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51708" y="8677656"/>
            <a:ext cx="429768" cy="429768"/>
          </a:xfrm>
          <a:prstGeom prst="rect">
            <a:avLst/>
          </a:prstGeom>
        </p:spPr>
      </p:pic>
      <p:sp>
        <p:nvSpPr>
          <p:cNvPr id="59" name="P3 head 2"/>
          <p:cNvSpPr txBox="1"/>
          <p:nvPr/>
        </p:nvSpPr>
        <p:spPr>
          <a:xfrm>
            <a:off x="16829532" y="8476488"/>
            <a:ext cx="50314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tx1"/>
                </a:solidFill>
              </a:rPr>
              <a:t>The limit grew over 4×</a:t>
            </a:r>
            <a:endParaRPr lang="en-US" sz="2500" dirty="0"/>
          </a:p>
        </p:txBody>
      </p:sp>
      <p:sp>
        <p:nvSpPr>
          <p:cNvPr id="60" name="P3 text 2"/>
          <p:cNvSpPr txBox="1"/>
          <p:nvPr/>
        </p:nvSpPr>
        <p:spPr>
          <a:xfrm>
            <a:off x="16829532" y="8988552"/>
            <a:ext cx="50314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The FAA saw 0.6° in the safety analysis. The final design used 2.5°. [2]</a:t>
            </a:r>
            <a:endParaRPr lang="en-US" sz="2000" dirty="0"/>
          </a:p>
        </p:txBody>
      </p:sp>
      <p:sp>
        <p:nvSpPr>
          <p:cNvPr id="61" name="Fig3 chart card"/>
          <p:cNvSpPr/>
          <p:nvPr/>
        </p:nvSpPr>
        <p:spPr>
          <a:xfrm>
            <a:off x="15732252" y="10241280"/>
            <a:ext cx="6128766" cy="338328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/>
        </p:spPr>
      </p:sp>
      <p:graphicFrame>
        <p:nvGraphicFramePr>
          <p:cNvPr id="62" name="Fig3 chart" descr=""/>
          <p:cNvGraphicFramePr/>
          <p:nvPr/>
        </p:nvGraphicFramePr>
        <p:xfrm>
          <a:off x="15869412" y="10332720"/>
          <a:ext cx="5854446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63" name="Fig3 caption"/>
          <p:cNvSpPr txBox="1"/>
          <p:nvPr/>
        </p:nvSpPr>
        <p:spPr>
          <a:xfrm>
            <a:off x="15960852" y="13167360"/>
            <a:ext cx="56715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Fig.3  The limit the FAA saw vs. what flew [2]</a:t>
            </a:r>
            <a:endParaRPr lang="en-US" sz="1600" dirty="0"/>
          </a:p>
        </p:txBody>
      </p:sp>
      <p:sp>
        <p:nvSpPr>
          <p:cNvPr id="64" name="P3 disc 3"/>
          <p:cNvSpPr/>
          <p:nvPr/>
        </p:nvSpPr>
        <p:spPr>
          <a:xfrm>
            <a:off x="15732252" y="1394460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5" name="P3 icon 3" descr="Pilots weren’t tol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951708" y="14164056"/>
            <a:ext cx="429768" cy="429768"/>
          </a:xfrm>
          <a:prstGeom prst="rect">
            <a:avLst/>
          </a:prstGeom>
        </p:spPr>
      </p:pic>
      <p:sp>
        <p:nvSpPr>
          <p:cNvPr id="66" name="P3 head 3"/>
          <p:cNvSpPr txBox="1"/>
          <p:nvPr/>
        </p:nvSpPr>
        <p:spPr>
          <a:xfrm>
            <a:off x="16829532" y="13962888"/>
            <a:ext cx="50314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tx1"/>
                </a:solidFill>
              </a:rPr>
              <a:t>Pilots weren’t told</a:t>
            </a:r>
            <a:endParaRPr lang="en-US" sz="2500" dirty="0"/>
          </a:p>
        </p:txBody>
      </p:sp>
      <p:sp>
        <p:nvSpPr>
          <p:cNvPr id="67" name="P3 text 3"/>
          <p:cNvSpPr txBox="1"/>
          <p:nvPr/>
        </p:nvSpPr>
        <p:spPr>
          <a:xfrm>
            <a:off x="16829532" y="14474952"/>
            <a:ext cx="50314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MCAS wasn’t disclosed to pilots, and the ‘AoA disagree’ alert only worked with an optional extra. [3][4]</a:t>
            </a:r>
            <a:endParaRPr lang="en-US" sz="2000" dirty="0"/>
          </a:p>
        </p:txBody>
      </p:sp>
      <p:sp>
        <p:nvSpPr>
          <p:cNvPr id="68" name="P3 disc 4"/>
          <p:cNvSpPr/>
          <p:nvPr/>
        </p:nvSpPr>
        <p:spPr>
          <a:xfrm>
            <a:off x="15732252" y="1572768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9" name="P3 icon 4" descr="Training was a cos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951708" y="15947136"/>
            <a:ext cx="429768" cy="429768"/>
          </a:xfrm>
          <a:prstGeom prst="rect">
            <a:avLst/>
          </a:prstGeom>
        </p:spPr>
      </p:pic>
      <p:sp>
        <p:nvSpPr>
          <p:cNvPr id="70" name="P3 head 4"/>
          <p:cNvSpPr txBox="1"/>
          <p:nvPr/>
        </p:nvSpPr>
        <p:spPr>
          <a:xfrm>
            <a:off x="16829532" y="15745968"/>
            <a:ext cx="50314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chemeClr val="tx1"/>
                </a:solidFill>
              </a:rPr>
              <a:t>Training was a cost</a:t>
            </a:r>
            <a:endParaRPr lang="en-US" sz="2500" dirty="0"/>
          </a:p>
        </p:txBody>
      </p:sp>
      <p:sp>
        <p:nvSpPr>
          <p:cNvPr id="71" name="P3 text 4"/>
          <p:cNvSpPr txBox="1"/>
          <p:nvPr/>
        </p:nvSpPr>
        <p:spPr>
          <a:xfrm>
            <a:off x="16829532" y="16258032"/>
            <a:ext cx="50314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Boeing promised Southwest $1M per plane if its pilots needed simulator training. [1]</a:t>
            </a:r>
            <a:endParaRPr lang="en-US" sz="2000" dirty="0"/>
          </a:p>
        </p:txBody>
      </p:sp>
      <p:sp>
        <p:nvSpPr>
          <p:cNvPr id="72" name="P3 callout"/>
          <p:cNvSpPr/>
          <p:nvPr/>
        </p:nvSpPr>
        <p:spPr>
          <a:xfrm>
            <a:off x="15732252" y="17556480"/>
            <a:ext cx="6128766" cy="1691640"/>
          </a:xfrm>
          <a:prstGeom prst="roundRect">
            <a:avLst>
              <a:gd name="adj" fmla="val 10811"/>
            </a:avLst>
          </a:prstGeom>
          <a:solidFill>
            <a:schemeClr val="accent1"/>
          </a:solidFill>
          <a:ln/>
        </p:spPr>
      </p:sp>
      <p:sp>
        <p:nvSpPr>
          <p:cNvPr id="73" name="P3 callout text"/>
          <p:cNvSpPr txBox="1"/>
          <p:nvPr/>
        </p:nvSpPr>
        <p:spPr>
          <a:xfrm>
            <a:off x="16052292" y="17556480"/>
            <a:ext cx="548868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Not a bug: the code did exactly what it was designed to do.</a:t>
            </a:r>
            <a:endParaRPr lang="en-US" sz="2400" dirty="0"/>
          </a:p>
        </p:txBody>
      </p:sp>
      <p:pic>
        <p:nvPicPr>
          <p:cNvPr id="74" name="Fig4 families photo" descr="Families holding photos of crash victims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23049738" y="6675120"/>
            <a:ext cx="6128766" cy="4572000"/>
          </a:xfrm>
          <a:prstGeom prst="rect">
            <a:avLst/>
          </a:prstGeom>
        </p:spPr>
      </p:pic>
      <p:sp>
        <p:nvSpPr>
          <p:cNvPr id="75" name="Fig4 caption"/>
          <p:cNvSpPr txBox="1"/>
          <p:nvPr/>
        </p:nvSpPr>
        <p:spPr>
          <a:xfrm>
            <a:off x="23049738" y="11338560"/>
            <a:ext cx="612876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Fig.4  Families holding photos of Ethiopian 302 victims</a:t>
            </a:r>
            <a:endParaRPr lang="en-US" sz="1600" dirty="0"/>
          </a:p>
        </p:txBody>
      </p:sp>
      <p:sp>
        <p:nvSpPr>
          <p:cNvPr id="76" name="P4 quote"/>
          <p:cNvSpPr txBox="1"/>
          <p:nvPr/>
        </p:nvSpPr>
        <p:spPr>
          <a:xfrm>
            <a:off x="23049738" y="11978640"/>
            <a:ext cx="612876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300" i="1" dirty="0">
                <a:solidFill>
                  <a:schemeClr val="tx1"/>
                </a:solidFill>
              </a:rPr>
              <a:t>“A horrific culmination of a series of faulty technical assumptions by Boeing’s engineers, a lack of transparency on the part of Boeing’s management, and grossly insufficient oversight by the FAA.”</a:t>
            </a:r>
            <a:endParaRPr lang="en-US" sz="2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US House Transportation Committee, 2020 [1]</a:t>
            </a:r>
            <a:endParaRPr lang="en-US" sz="2300" dirty="0"/>
          </a:p>
        </p:txBody>
      </p:sp>
      <p:sp>
        <p:nvSpPr>
          <p:cNvPr id="77" name="P4 ask heading"/>
          <p:cNvSpPr txBox="1"/>
          <p:nvPr/>
        </p:nvSpPr>
        <p:spPr>
          <a:xfrm>
            <a:off x="23049738" y="15133320"/>
            <a:ext cx="612876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Ask yourself:</a:t>
            </a:r>
            <a:endParaRPr lang="en-US" sz="2600" dirty="0"/>
          </a:p>
        </p:txBody>
      </p:sp>
      <p:sp>
        <p:nvSpPr>
          <p:cNvPr id="78" name="P4 questions"/>
          <p:cNvSpPr txBox="1"/>
          <p:nvPr/>
        </p:nvSpPr>
        <p:spPr>
          <a:xfrm>
            <a:off x="23049738" y="15773400"/>
            <a:ext cx="6128766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b="1" dirty="0">
                <a:solidFill>
                  <a:schemeClr val="tx1"/>
                </a:solidFill>
              </a:rPr>
              <a:t>Would you ship a safety feature that trusts one sensor?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b="1" dirty="0">
                <a:solidFill>
                  <a:schemeClr val="tx1"/>
                </a:solidFill>
              </a:rPr>
              <a:t>When the requirement changes, does the safety analysis?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b="1" dirty="0">
                <a:solidFill>
                  <a:schemeClr val="tx1"/>
                </a:solidFill>
              </a:rPr>
              <a:t>If users don’t know your code exists, how can they fight it?</a:t>
            </a:r>
            <a:endParaRPr lang="en-US" sz="2400" dirty="0"/>
          </a:p>
        </p:txBody>
      </p:sp>
      <p:sp>
        <p:nvSpPr>
          <p:cNvPr id="79" name="References heading"/>
          <p:cNvSpPr txBox="1"/>
          <p:nvPr/>
        </p:nvSpPr>
        <p:spPr>
          <a:xfrm>
            <a:off x="731520" y="19888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References</a:t>
            </a:r>
            <a:endParaRPr lang="en-US" sz="1600" dirty="0"/>
          </a:p>
        </p:txBody>
      </p:sp>
      <p:sp>
        <p:nvSpPr>
          <p:cNvPr id="80" name="References left"/>
          <p:cNvSpPr txBox="1"/>
          <p:nvPr/>
        </p:nvSpPr>
        <p:spPr>
          <a:xfrm>
            <a:off x="731520" y="20299680"/>
            <a:ext cx="141320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[1] US House Committee on Transportation and Infrastructure (2020) Final Committee Report: The Design, Development &amp; Certification of the Boeing 737 MAX. September 2020.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[2] Gates, D. (2019) Flawed analysis, failed oversight: How Boeing, FAA certified the suspect 737 MAX flight control system. The Seattle Times, 17 March 2019.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[3] CNBC (2018) Optional warning light could have aided Lion Air before crash. CNBC, 30 November 2018.</a:t>
            </a:r>
            <a:endParaRPr lang="en-US" sz="1400" dirty="0"/>
          </a:p>
        </p:txBody>
      </p:sp>
      <p:sp>
        <p:nvSpPr>
          <p:cNvPr id="81" name="References right"/>
          <p:cNvSpPr txBox="1"/>
          <p:nvPr/>
        </p:nvSpPr>
        <p:spPr>
          <a:xfrm>
            <a:off x="15412212" y="20299680"/>
            <a:ext cx="141320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[4] Associated Press (2025) Timeline: Key events in the troubled history of the Boeing 737 Max jetliner. AP, September 2025.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[5] Reuters (2021) Boeing pays $2.5bn to settle US fraud charge over 737 MAX. Published via BusinessLIVE, 8 January 2021.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Photos: [add the source of each photo].   Icons: Font Awesome Free (CC BY 4.0).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oeing MAX Poster">
  <a:themeElements>
    <a:clrScheme name="Boeing MAX Poster">
      <a:dk1>
        <a:srgbClr val="0B2545"/>
      </a:dk1>
      <a:lt1>
        <a:srgbClr val="FFFFFF"/>
      </a:lt1>
      <a:dk2>
        <a:srgbClr val="2E3A48"/>
      </a:dk2>
      <a:lt2>
        <a:srgbClr val="F4F7FB"/>
      </a:lt2>
      <a:accent1>
        <a:srgbClr val="D7263D"/>
      </a:accent1>
      <a:accent2>
        <a:srgbClr val="F2A900"/>
      </a:accent2>
      <a:accent3>
        <a:srgbClr val="1F6FB2"/>
      </a:accent3>
      <a:accent4>
        <a:srgbClr val="2A9D8F"/>
      </a:accent4>
      <a:accent5>
        <a:srgbClr val="5C6B7A"/>
      </a:accent5>
      <a:accent6>
        <a:srgbClr val="8DA9C4"/>
      </a:accent6>
      <a:hlink>
        <a:srgbClr val="1F6FB2"/>
      </a:hlink>
      <a:folHlink>
        <a:srgbClr val="5C6B7A"/>
      </a:folHlink>
    </a:clrScheme>
    <a:fontScheme name="Boeing MAX Post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Boeing 737 MAX: Bug or Business Decision?</dc:title>
  <dc:subject>Boeing 737 MAX and MCAS</dc:subject>
  <dc:creator>PptxGenJS</dc:creator>
  <cp:lastModifiedBy>PptxGenJS</cp:lastModifiedBy>
  <cp:revision>1</cp:revision>
  <dcterms:created xsi:type="dcterms:W3CDTF">2026-10-01T22:00:10Z</dcterms:created>
  <dcterms:modified xsi:type="dcterms:W3CDTF">2026-10-01T22:00:10Z</dcterms:modified>
</cp:coreProperties>
</file>