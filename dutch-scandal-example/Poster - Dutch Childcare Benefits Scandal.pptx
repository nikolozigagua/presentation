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df1c78fe-77b3-243d-cb52-2c9cd31c937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line"/>
          <p:cNvSpPr txBox="1"/>
          <p:nvPr/>
        </p:nvSpPr>
        <p:spPr>
          <a:xfrm>
            <a:off x="914400" y="685800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chemeClr val="accent1"/>
                </a:solidFill>
              </a:rPr>
              <a:t>NETHERLANDS  ·  2013–2019  ·  A GOVERNMENT ALGORITHM</a:t>
            </a:r>
            <a:endParaRPr lang="en-US" sz="2200" dirty="0"/>
          </a:p>
        </p:txBody>
      </p:sp>
      <p:sp>
        <p:nvSpPr>
          <p:cNvPr id="3" name="Title"/>
          <p:cNvSpPr txBox="1"/>
          <p:nvPr/>
        </p:nvSpPr>
        <p:spPr>
          <a:xfrm>
            <a:off x="914400" y="1188720"/>
            <a:ext cx="1426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0" b="1" dirty="0">
                <a:solidFill>
                  <a:schemeClr val="bg1"/>
                </a:solidFill>
              </a:rPr>
              <a:t>The Algorithm That</a:t>
            </a:r>
            <a:endParaRPr lang="en-US" sz="8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0" b="1" dirty="0">
                <a:solidFill>
                  <a:schemeClr val="bg1"/>
                </a:solidFill>
              </a:rPr>
              <a:t>Toppled a Government</a:t>
            </a:r>
            <a:endParaRPr lang="en-US" sz="8800" dirty="0"/>
          </a:p>
        </p:txBody>
      </p:sp>
      <p:sp>
        <p:nvSpPr>
          <p:cNvPr id="4" name="Subtitle question"/>
          <p:cNvSpPr txBox="1"/>
          <p:nvPr/>
        </p:nvSpPr>
        <p:spPr>
          <a:xfrm>
            <a:off x="914400" y="4069080"/>
            <a:ext cx="1426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Could your ‘nationality’ column do the same?</a:t>
            </a:r>
            <a:endParaRPr lang="en-US" sz="3800" dirty="0"/>
          </a:p>
        </p:txBody>
      </p:sp>
      <p:sp>
        <p:nvSpPr>
          <p:cNvPr id="5" name="Byline"/>
          <p:cNvSpPr txBox="1"/>
          <p:nvPr/>
        </p:nvSpPr>
        <p:spPr>
          <a:xfrm>
            <a:off x="914400" y="4937760"/>
            <a:ext cx="1426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[Your Name]  ·  4th Year Software Development, SETU  ·  October 2026</a:t>
            </a:r>
            <a:endParaRPr lang="en-US" sz="2200" dirty="0"/>
          </a:p>
        </p:txBody>
      </p:sp>
      <p:sp>
        <p:nvSpPr>
          <p:cNvPr id="6" name="Hero disc"/>
          <p:cNvSpPr/>
          <p:nvPr/>
        </p:nvSpPr>
        <p:spPr>
          <a:xfrm>
            <a:off x="15727680" y="731520"/>
            <a:ext cx="4480560" cy="4480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Database icon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0" y="1508760"/>
            <a:ext cx="2011680" cy="2011680"/>
          </a:xfrm>
          <a:prstGeom prst="rect">
            <a:avLst/>
          </a:prstGeom>
        </p:spPr>
      </p:pic>
      <p:sp>
        <p:nvSpPr>
          <p:cNvPr id="8" name="Stamp"/>
          <p:cNvSpPr txBox="1"/>
          <p:nvPr/>
        </p:nvSpPr>
        <p:spPr>
          <a:xfrm rot="-720000">
            <a:off x="14996160" y="3520440"/>
            <a:ext cx="5486400" cy="1005840"/>
          </a:xfrm>
          <a:prstGeom prst="rect">
            <a:avLst/>
          </a:prstGeom>
          <a:solidFill>
            <a:schemeClr val="tx1"/>
          </a:solidFill>
          <a:ln w="762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2"/>
                </a:solidFill>
              </a:rPr>
              <a:t>HIGH RISK</a:t>
            </a:r>
            <a:endParaRPr lang="en-US" sz="4600" dirty="0"/>
          </a:p>
        </p:txBody>
      </p:sp>
      <p:sp>
        <p:nvSpPr>
          <p:cNvPr id="9" name="Section number 01"/>
          <p:cNvSpPr txBox="1"/>
          <p:nvPr/>
        </p:nvSpPr>
        <p:spPr>
          <a:xfrm>
            <a:off x="914400" y="5806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10" name="Section title 01"/>
          <p:cNvSpPr txBox="1"/>
          <p:nvPr/>
        </p:nvSpPr>
        <p:spPr>
          <a:xfrm>
            <a:off x="2651760" y="5897880"/>
            <a:ext cx="17821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How one column became a verdict</a:t>
            </a:r>
            <a:endParaRPr lang="en-US" sz="4200" dirty="0"/>
          </a:p>
        </p:txBody>
      </p:sp>
      <p:sp>
        <p:nvSpPr>
          <p:cNvPr id="11" name="Data card"/>
          <p:cNvSpPr/>
          <p:nvPr/>
        </p:nvSpPr>
        <p:spPr>
          <a:xfrm>
            <a:off x="914400" y="6949440"/>
            <a:ext cx="9692640" cy="6858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Card caption"/>
          <p:cNvSpPr txBox="1"/>
          <p:nvPr/>
        </p:nvSpPr>
        <p:spPr>
          <a:xfrm>
            <a:off x="1371600" y="72694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</a:rPr>
              <a:t>ILLUSTRATIVE EXAMPLE · NOT REAL DATA</a:t>
            </a:r>
            <a:endParaRPr lang="en-US" sz="1600" dirty="0"/>
          </a:p>
        </p:txBody>
      </p:sp>
      <p:sp>
        <p:nvSpPr>
          <p:cNvPr id="13" name="Key applicant"/>
          <p:cNvSpPr txBox="1"/>
          <p:nvPr/>
        </p:nvSpPr>
        <p:spPr>
          <a:xfrm>
            <a:off x="1417320" y="7955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applicant</a:t>
            </a:r>
            <a:endParaRPr lang="en-US" sz="2800" dirty="0"/>
          </a:p>
        </p:txBody>
      </p:sp>
      <p:sp>
        <p:nvSpPr>
          <p:cNvPr id="14" name="Value applicant"/>
          <p:cNvSpPr txBox="1"/>
          <p:nvPr/>
        </p:nvSpPr>
        <p:spPr>
          <a:xfrm>
            <a:off x="4846320" y="7955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#48213</a:t>
            </a:r>
            <a:endParaRPr lang="en-US" sz="2800" dirty="0"/>
          </a:p>
        </p:txBody>
      </p:sp>
      <p:sp>
        <p:nvSpPr>
          <p:cNvPr id="15" name="Key income"/>
          <p:cNvSpPr txBox="1"/>
          <p:nvPr/>
        </p:nvSpPr>
        <p:spPr>
          <a:xfrm>
            <a:off x="1417320" y="8823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2800" dirty="0"/>
          </a:p>
        </p:txBody>
      </p:sp>
      <p:sp>
        <p:nvSpPr>
          <p:cNvPr id="16" name="Value income"/>
          <p:cNvSpPr txBox="1"/>
          <p:nvPr/>
        </p:nvSpPr>
        <p:spPr>
          <a:xfrm>
            <a:off x="4846320" y="8823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2800" dirty="0"/>
          </a:p>
        </p:txBody>
      </p:sp>
      <p:sp>
        <p:nvSpPr>
          <p:cNvPr id="17" name="Flag highlight nationality"/>
          <p:cNvSpPr/>
          <p:nvPr/>
        </p:nvSpPr>
        <p:spPr>
          <a:xfrm>
            <a:off x="1143000" y="9555480"/>
            <a:ext cx="9235440" cy="777240"/>
          </a:xfrm>
          <a:prstGeom prst="rect">
            <a:avLst/>
          </a:prstGeom>
          <a:solidFill>
            <a:srgbClr val="FDE4E7"/>
          </a:solidFill>
          <a:ln w="12700">
            <a:solidFill>
              <a:srgbClr val="FDE4E7"/>
            </a:solidFill>
            <a:prstDash val="solid"/>
          </a:ln>
        </p:spPr>
      </p:sp>
      <p:sp>
        <p:nvSpPr>
          <p:cNvPr id="18" name="Risk pill nationality"/>
          <p:cNvSpPr txBox="1"/>
          <p:nvPr/>
        </p:nvSpPr>
        <p:spPr>
          <a:xfrm>
            <a:off x="8275320" y="9710928"/>
            <a:ext cx="173736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+RISK</a:t>
            </a:r>
            <a:endParaRPr lang="en-US" sz="1800" dirty="0"/>
          </a:p>
        </p:txBody>
      </p:sp>
      <p:sp>
        <p:nvSpPr>
          <p:cNvPr id="19" name="Key nationality"/>
          <p:cNvSpPr txBox="1"/>
          <p:nvPr/>
        </p:nvSpPr>
        <p:spPr>
          <a:xfrm>
            <a:off x="1417320" y="9692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nationality</a:t>
            </a:r>
            <a:endParaRPr lang="en-US" sz="2800" dirty="0"/>
          </a:p>
        </p:txBody>
      </p:sp>
      <p:sp>
        <p:nvSpPr>
          <p:cNvPr id="20" name="Value nationality"/>
          <p:cNvSpPr txBox="1"/>
          <p:nvPr/>
        </p:nvSpPr>
        <p:spPr>
          <a:xfrm>
            <a:off x="4846320" y="9692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non-Dutch</a:t>
            </a:r>
            <a:endParaRPr lang="en-US" sz="2800" dirty="0"/>
          </a:p>
        </p:txBody>
      </p:sp>
      <p:sp>
        <p:nvSpPr>
          <p:cNvPr id="21" name="Flag highlight dual_citizen"/>
          <p:cNvSpPr/>
          <p:nvPr/>
        </p:nvSpPr>
        <p:spPr>
          <a:xfrm>
            <a:off x="1143000" y="10424160"/>
            <a:ext cx="9235440" cy="777240"/>
          </a:xfrm>
          <a:prstGeom prst="rect">
            <a:avLst/>
          </a:prstGeom>
          <a:solidFill>
            <a:srgbClr val="FDE4E7"/>
          </a:solidFill>
          <a:ln w="12700">
            <a:solidFill>
              <a:srgbClr val="FDE4E7"/>
            </a:solidFill>
            <a:prstDash val="solid"/>
          </a:ln>
        </p:spPr>
      </p:sp>
      <p:sp>
        <p:nvSpPr>
          <p:cNvPr id="22" name="Risk pill dual_citizen"/>
          <p:cNvSpPr txBox="1"/>
          <p:nvPr/>
        </p:nvSpPr>
        <p:spPr>
          <a:xfrm>
            <a:off x="8275320" y="10579608"/>
            <a:ext cx="173736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+RISK</a:t>
            </a:r>
            <a:endParaRPr lang="en-US" sz="1800" dirty="0"/>
          </a:p>
        </p:txBody>
      </p:sp>
      <p:sp>
        <p:nvSpPr>
          <p:cNvPr id="23" name="Key dual_citizen"/>
          <p:cNvSpPr txBox="1"/>
          <p:nvPr/>
        </p:nvSpPr>
        <p:spPr>
          <a:xfrm>
            <a:off x="1417320" y="10561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dual_citizen</a:t>
            </a:r>
            <a:endParaRPr lang="en-US" sz="2800" dirty="0"/>
          </a:p>
        </p:txBody>
      </p:sp>
      <p:sp>
        <p:nvSpPr>
          <p:cNvPr id="24" name="Value dual_citizen"/>
          <p:cNvSpPr txBox="1"/>
          <p:nvPr/>
        </p:nvSpPr>
        <p:spPr>
          <a:xfrm>
            <a:off x="4846320" y="10561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800" dirty="0"/>
          </a:p>
        </p:txBody>
      </p:sp>
      <p:sp>
        <p:nvSpPr>
          <p:cNvPr id="25" name="Card divider"/>
          <p:cNvSpPr/>
          <p:nvPr/>
        </p:nvSpPr>
        <p:spPr>
          <a:xfrm>
            <a:off x="1371600" y="11356848"/>
            <a:ext cx="87782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26" name="Key risk_score"/>
          <p:cNvSpPr txBox="1"/>
          <p:nvPr/>
        </p:nvSpPr>
        <p:spPr>
          <a:xfrm>
            <a:off x="1417320" y="11612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risk_score</a:t>
            </a:r>
            <a:endParaRPr lang="en-US" sz="2800" dirty="0"/>
          </a:p>
        </p:txBody>
      </p:sp>
      <p:sp>
        <p:nvSpPr>
          <p:cNvPr id="27" name="Value risk_score"/>
          <p:cNvSpPr txBox="1"/>
          <p:nvPr/>
        </p:nvSpPr>
        <p:spPr>
          <a:xfrm>
            <a:off x="4846320" y="11612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</a:t>
            </a:r>
            <a:endParaRPr lang="en-US" sz="2800" dirty="0"/>
          </a:p>
        </p:txBody>
      </p:sp>
      <p:sp>
        <p:nvSpPr>
          <p:cNvPr id="28" name="Key status"/>
          <p:cNvSpPr txBox="1"/>
          <p:nvPr/>
        </p:nvSpPr>
        <p:spPr>
          <a:xfrm>
            <a:off x="1417320" y="12481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2800" dirty="0"/>
          </a:p>
        </p:txBody>
      </p:sp>
      <p:sp>
        <p:nvSpPr>
          <p:cNvPr id="29" name="Value status"/>
          <p:cNvSpPr txBox="1"/>
          <p:nvPr/>
        </p:nvSpPr>
        <p:spPr>
          <a:xfrm>
            <a:off x="4846320" y="1248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RISK</a:t>
            </a:r>
            <a:endParaRPr lang="en-US" sz="2800" dirty="0"/>
          </a:p>
        </p:txBody>
      </p:sp>
      <p:sp>
        <p:nvSpPr>
          <p:cNvPr id="30" name="Connector 1"/>
          <p:cNvSpPr/>
          <p:nvPr/>
        </p:nvSpPr>
        <p:spPr>
          <a:xfrm>
            <a:off x="11978640" y="8366760"/>
            <a:ext cx="0" cy="434340"/>
          </a:xfrm>
          <a:prstGeom prst="line">
            <a:avLst/>
          </a:prstGeom>
          <a:noFill/>
          <a:ln w="38100">
            <a:solidFill>
              <a:schemeClr val="accent5">
                <a:alpha val="60000"/>
              </a:schemeClr>
            </a:solidFill>
            <a:prstDash val="solid"/>
          </a:ln>
        </p:spPr>
      </p:sp>
      <p:sp>
        <p:nvSpPr>
          <p:cNvPr id="31" name="Step disc 1"/>
          <p:cNvSpPr/>
          <p:nvPr/>
        </p:nvSpPr>
        <p:spPr>
          <a:xfrm>
            <a:off x="11338560" y="708660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Step icon 1" descr="Parent claims benef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168" y="7379208"/>
            <a:ext cx="694944" cy="694944"/>
          </a:xfrm>
          <a:prstGeom prst="rect">
            <a:avLst/>
          </a:prstGeom>
        </p:spPr>
      </p:pic>
      <p:sp>
        <p:nvSpPr>
          <p:cNvPr id="33" name="Step title 1"/>
          <p:cNvSpPr txBox="1"/>
          <p:nvPr/>
        </p:nvSpPr>
        <p:spPr>
          <a:xfrm>
            <a:off x="12984480" y="7178040"/>
            <a:ext cx="7488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Parent claims benefit</a:t>
            </a:r>
            <a:endParaRPr lang="en-US" sz="3000" dirty="0"/>
          </a:p>
        </p:txBody>
      </p:sp>
      <p:sp>
        <p:nvSpPr>
          <p:cNvPr id="34" name="Step text 1"/>
          <p:cNvSpPr txBox="1"/>
          <p:nvPr/>
        </p:nvSpPr>
        <p:spPr>
          <a:xfrm>
            <a:off x="12984480" y="7799832"/>
            <a:ext cx="7488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Childcare support for working families</a:t>
            </a:r>
            <a:endParaRPr lang="en-US" sz="2200" dirty="0"/>
          </a:p>
        </p:txBody>
      </p:sp>
      <p:sp>
        <p:nvSpPr>
          <p:cNvPr id="35" name="Connector 2"/>
          <p:cNvSpPr/>
          <p:nvPr/>
        </p:nvSpPr>
        <p:spPr>
          <a:xfrm>
            <a:off x="11978640" y="10081260"/>
            <a:ext cx="0" cy="434340"/>
          </a:xfrm>
          <a:prstGeom prst="line">
            <a:avLst/>
          </a:prstGeom>
          <a:noFill/>
          <a:ln w="38100">
            <a:solidFill>
              <a:schemeClr val="accent5">
                <a:alpha val="60000"/>
              </a:schemeClr>
            </a:solidFill>
            <a:prstDash val="solid"/>
          </a:ln>
        </p:spPr>
      </p:sp>
      <p:sp>
        <p:nvSpPr>
          <p:cNvPr id="36" name="Step disc 2"/>
          <p:cNvSpPr/>
          <p:nvPr/>
        </p:nvSpPr>
        <p:spPr>
          <a:xfrm>
            <a:off x="11338560" y="880110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Step icon 2" descr="Model scores the clai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9093708"/>
            <a:ext cx="694944" cy="694944"/>
          </a:xfrm>
          <a:prstGeom prst="rect">
            <a:avLst/>
          </a:prstGeom>
        </p:spPr>
      </p:pic>
      <p:sp>
        <p:nvSpPr>
          <p:cNvPr id="38" name="Step title 2"/>
          <p:cNvSpPr txBox="1"/>
          <p:nvPr/>
        </p:nvSpPr>
        <p:spPr>
          <a:xfrm>
            <a:off x="12984480" y="8892540"/>
            <a:ext cx="7488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Model scores the claim</a:t>
            </a:r>
            <a:endParaRPr lang="en-US" sz="3000" dirty="0"/>
          </a:p>
        </p:txBody>
      </p:sp>
      <p:sp>
        <p:nvSpPr>
          <p:cNvPr id="39" name="Step text 2"/>
          <p:cNvSpPr txBox="1"/>
          <p:nvPr/>
        </p:nvSpPr>
        <p:spPr>
          <a:xfrm>
            <a:off x="12984480" y="9514332"/>
            <a:ext cx="7488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A self-learning risk model, fed nationality data</a:t>
            </a:r>
            <a:endParaRPr lang="en-US" sz="2200" dirty="0"/>
          </a:p>
        </p:txBody>
      </p:sp>
      <p:sp>
        <p:nvSpPr>
          <p:cNvPr id="40" name="Connector 3"/>
          <p:cNvSpPr/>
          <p:nvPr/>
        </p:nvSpPr>
        <p:spPr>
          <a:xfrm>
            <a:off x="11978640" y="11795760"/>
            <a:ext cx="0" cy="434340"/>
          </a:xfrm>
          <a:prstGeom prst="line">
            <a:avLst/>
          </a:prstGeom>
          <a:noFill/>
          <a:ln w="38100">
            <a:solidFill>
              <a:schemeClr val="accent5">
                <a:alpha val="60000"/>
              </a:schemeClr>
            </a:solidFill>
            <a:prstDash val="solid"/>
          </a:ln>
        </p:spPr>
      </p:sp>
      <p:sp>
        <p:nvSpPr>
          <p:cNvPr id="41" name="Step disc 3"/>
          <p:cNvSpPr/>
          <p:nvPr/>
        </p:nvSpPr>
        <p:spPr>
          <a:xfrm>
            <a:off x="11338560" y="1051560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Step icon 3" descr="Flagged as ‘high risk’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10808208"/>
            <a:ext cx="694944" cy="694944"/>
          </a:xfrm>
          <a:prstGeom prst="rect">
            <a:avLst/>
          </a:prstGeom>
        </p:spPr>
      </p:pic>
      <p:sp>
        <p:nvSpPr>
          <p:cNvPr id="43" name="Step title 3"/>
          <p:cNvSpPr txBox="1"/>
          <p:nvPr/>
        </p:nvSpPr>
        <p:spPr>
          <a:xfrm>
            <a:off x="12984480" y="10607040"/>
            <a:ext cx="7488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Flagged as ‘high risk’</a:t>
            </a:r>
            <a:endParaRPr lang="en-US" sz="3000" dirty="0"/>
          </a:p>
        </p:txBody>
      </p:sp>
      <p:sp>
        <p:nvSpPr>
          <p:cNvPr id="44" name="Step text 3"/>
          <p:cNvSpPr txBox="1"/>
          <p:nvPr/>
        </p:nvSpPr>
        <p:spPr>
          <a:xfrm>
            <a:off x="12984480" y="11228832"/>
            <a:ext cx="7488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Non-Dutch nationality pushed scores up</a:t>
            </a:r>
            <a:endParaRPr lang="en-US" sz="2200" dirty="0"/>
          </a:p>
        </p:txBody>
      </p:sp>
      <p:sp>
        <p:nvSpPr>
          <p:cNvPr id="45" name="Step disc 4"/>
          <p:cNvSpPr/>
          <p:nvPr/>
        </p:nvSpPr>
        <p:spPr>
          <a:xfrm>
            <a:off x="11338560" y="1223010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Step icon 4" descr="Benefits cut, money demand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1168" y="12522708"/>
            <a:ext cx="694944" cy="694944"/>
          </a:xfrm>
          <a:prstGeom prst="rect">
            <a:avLst/>
          </a:prstGeom>
        </p:spPr>
      </p:pic>
      <p:sp>
        <p:nvSpPr>
          <p:cNvPr id="47" name="Step title 4"/>
          <p:cNvSpPr txBox="1"/>
          <p:nvPr/>
        </p:nvSpPr>
        <p:spPr>
          <a:xfrm>
            <a:off x="12984480" y="12321540"/>
            <a:ext cx="7488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Benefits cut, money demanded</a:t>
            </a:r>
            <a:endParaRPr lang="en-US" sz="3000" dirty="0"/>
          </a:p>
        </p:txBody>
      </p:sp>
      <p:sp>
        <p:nvSpPr>
          <p:cNvPr id="48" name="Step text 4"/>
          <p:cNvSpPr txBox="1"/>
          <p:nvPr/>
        </p:nvSpPr>
        <p:spPr>
          <a:xfrm>
            <a:off x="12984480" y="12943332"/>
            <a:ext cx="7488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Repayments of tens of thousands of euros</a:t>
            </a:r>
            <a:endParaRPr lang="en-US" sz="2200" dirty="0"/>
          </a:p>
        </p:txBody>
      </p:sp>
      <p:sp>
        <p:nvSpPr>
          <p:cNvPr id="49" name="Section number 02"/>
          <p:cNvSpPr txBox="1"/>
          <p:nvPr/>
        </p:nvSpPr>
        <p:spPr>
          <a:xfrm>
            <a:off x="914400" y="1435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50" name="Section title 02"/>
          <p:cNvSpPr txBox="1"/>
          <p:nvPr/>
        </p:nvSpPr>
        <p:spPr>
          <a:xfrm>
            <a:off x="2651760" y="14447520"/>
            <a:ext cx="17821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The damage, in numbers</a:t>
            </a:r>
            <a:endParaRPr lang="en-US" sz="4200" dirty="0"/>
          </a:p>
        </p:txBody>
      </p:sp>
      <p:sp>
        <p:nvSpPr>
          <p:cNvPr id="51" name="Stat card 1"/>
          <p:cNvSpPr/>
          <p:nvPr/>
        </p:nvSpPr>
        <p:spPr>
          <a:xfrm>
            <a:off x="914400" y="15453360"/>
            <a:ext cx="4615434" cy="3017520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2" name="Stat number 1"/>
          <p:cNvSpPr txBox="1"/>
          <p:nvPr/>
        </p:nvSpPr>
        <p:spPr>
          <a:xfrm>
            <a:off x="1280160" y="15681960"/>
            <a:ext cx="3883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~26,000</a:t>
            </a:r>
            <a:endParaRPr lang="en-US" sz="7200" dirty="0"/>
          </a:p>
        </p:txBody>
      </p:sp>
      <p:sp>
        <p:nvSpPr>
          <p:cNvPr id="53" name="Stat label 1"/>
          <p:cNvSpPr txBox="1"/>
          <p:nvPr/>
        </p:nvSpPr>
        <p:spPr>
          <a:xfrm>
            <a:off x="1280160" y="16962120"/>
            <a:ext cx="38839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parents wrongly branded as fraudsters</a:t>
            </a:r>
            <a:endParaRPr lang="en-US" sz="2600" dirty="0"/>
          </a:p>
        </p:txBody>
      </p:sp>
      <p:sp>
        <p:nvSpPr>
          <p:cNvPr id="54" name="Stat card 2"/>
          <p:cNvSpPr/>
          <p:nvPr/>
        </p:nvSpPr>
        <p:spPr>
          <a:xfrm>
            <a:off x="5895594" y="15453360"/>
            <a:ext cx="4615434" cy="3017520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5" name="Stat number 2"/>
          <p:cNvSpPr txBox="1"/>
          <p:nvPr/>
        </p:nvSpPr>
        <p:spPr>
          <a:xfrm>
            <a:off x="6261354" y="15681960"/>
            <a:ext cx="3883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1.4M</a:t>
            </a:r>
            <a:endParaRPr lang="en-US" sz="7200" dirty="0"/>
          </a:p>
        </p:txBody>
      </p:sp>
      <p:sp>
        <p:nvSpPr>
          <p:cNvPr id="56" name="Stat label 2"/>
          <p:cNvSpPr txBox="1"/>
          <p:nvPr/>
        </p:nvSpPr>
        <p:spPr>
          <a:xfrm>
            <a:off x="6261354" y="16962120"/>
            <a:ext cx="38839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dual-nationality records still stored in 2018</a:t>
            </a:r>
            <a:endParaRPr lang="en-US" sz="2600" dirty="0"/>
          </a:p>
        </p:txBody>
      </p:sp>
      <p:sp>
        <p:nvSpPr>
          <p:cNvPr id="57" name="Stat card 3"/>
          <p:cNvSpPr/>
          <p:nvPr/>
        </p:nvSpPr>
        <p:spPr>
          <a:xfrm>
            <a:off x="10876788" y="15453360"/>
            <a:ext cx="4615434" cy="3017520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58" name="Stat number 3"/>
          <p:cNvSpPr txBox="1"/>
          <p:nvPr/>
        </p:nvSpPr>
        <p:spPr>
          <a:xfrm>
            <a:off x="11242548" y="15681960"/>
            <a:ext cx="3883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€2.75M</a:t>
            </a:r>
            <a:endParaRPr lang="en-US" sz="7200" dirty="0"/>
          </a:p>
        </p:txBody>
      </p:sp>
      <p:sp>
        <p:nvSpPr>
          <p:cNvPr id="59" name="Stat label 3"/>
          <p:cNvSpPr txBox="1"/>
          <p:nvPr/>
        </p:nvSpPr>
        <p:spPr>
          <a:xfrm>
            <a:off x="11242548" y="16962120"/>
            <a:ext cx="38839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GDPR fine on the tax authority for unlawful nationality data</a:t>
            </a:r>
            <a:endParaRPr lang="en-US" sz="2600" dirty="0"/>
          </a:p>
        </p:txBody>
      </p:sp>
      <p:sp>
        <p:nvSpPr>
          <p:cNvPr id="60" name="Stat card 4"/>
          <p:cNvSpPr/>
          <p:nvPr/>
        </p:nvSpPr>
        <p:spPr>
          <a:xfrm>
            <a:off x="15857982" y="15453360"/>
            <a:ext cx="4615434" cy="3017520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61" name="Stat number 4"/>
          <p:cNvSpPr txBox="1"/>
          <p:nvPr/>
        </p:nvSpPr>
        <p:spPr>
          <a:xfrm>
            <a:off x="16223742" y="15681960"/>
            <a:ext cx="3883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</a:t>
            </a:r>
            <a:endParaRPr lang="en-US" sz="7200" dirty="0"/>
          </a:p>
        </p:txBody>
      </p:sp>
      <p:sp>
        <p:nvSpPr>
          <p:cNvPr id="62" name="Stat label 4"/>
          <p:cNvSpPr txBox="1"/>
          <p:nvPr/>
        </p:nvSpPr>
        <p:spPr>
          <a:xfrm>
            <a:off x="16223742" y="16962120"/>
            <a:ext cx="38839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government fell: the whole cabinet resigned on 15 Jan 2021</a:t>
            </a:r>
            <a:endParaRPr lang="en-US" sz="2600" dirty="0"/>
          </a:p>
        </p:txBody>
      </p:sp>
      <p:sp>
        <p:nvSpPr>
          <p:cNvPr id="63" name="Section number 03"/>
          <p:cNvSpPr txBox="1"/>
          <p:nvPr/>
        </p:nvSpPr>
        <p:spPr>
          <a:xfrm>
            <a:off x="914400" y="18928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64" name="Section title 03"/>
          <p:cNvSpPr txBox="1"/>
          <p:nvPr/>
        </p:nvSpPr>
        <p:spPr>
          <a:xfrm>
            <a:off x="2651760" y="19019520"/>
            <a:ext cx="17821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From flagged to a fallen government</a:t>
            </a:r>
            <a:endParaRPr lang="en-US" sz="4200" dirty="0"/>
          </a:p>
        </p:txBody>
      </p:sp>
      <p:sp>
        <p:nvSpPr>
          <p:cNvPr id="65" name="Timeline axis"/>
          <p:cNvSpPr/>
          <p:nvPr/>
        </p:nvSpPr>
        <p:spPr>
          <a:xfrm>
            <a:off x="914400" y="20253960"/>
            <a:ext cx="19559016" cy="0"/>
          </a:xfrm>
          <a:prstGeom prst="line">
            <a:avLst/>
          </a:prstGeom>
          <a:noFill/>
          <a:ln w="50800">
            <a:solidFill>
              <a:schemeClr val="accent5">
                <a:alpha val="70000"/>
              </a:schemeClr>
            </a:solidFill>
            <a:prstDash val="solid"/>
          </a:ln>
        </p:spPr>
      </p:sp>
      <p:sp>
        <p:nvSpPr>
          <p:cNvPr id="66" name="Timeline node 1"/>
          <p:cNvSpPr/>
          <p:nvPr/>
        </p:nvSpPr>
        <p:spPr>
          <a:xfrm>
            <a:off x="914400" y="20025360"/>
            <a:ext cx="457200" cy="45720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67" name="Timeline date 1"/>
          <p:cNvSpPr txBox="1"/>
          <p:nvPr/>
        </p:nvSpPr>
        <p:spPr>
          <a:xfrm>
            <a:off x="914400" y="20665440"/>
            <a:ext cx="4615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2013–2019</a:t>
            </a:r>
            <a:endParaRPr lang="en-US" sz="3200" dirty="0"/>
          </a:p>
        </p:txBody>
      </p:sp>
      <p:sp>
        <p:nvSpPr>
          <p:cNvPr id="68" name="Timeline text 1"/>
          <p:cNvSpPr txBox="1"/>
          <p:nvPr/>
        </p:nvSpPr>
        <p:spPr>
          <a:xfrm>
            <a:off x="914400" y="21259800"/>
            <a:ext cx="4523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Families flagged and told to repay</a:t>
            </a:r>
            <a:endParaRPr lang="en-US" sz="2600" dirty="0"/>
          </a:p>
        </p:txBody>
      </p:sp>
      <p:sp>
        <p:nvSpPr>
          <p:cNvPr id="69" name="Timeline node 2"/>
          <p:cNvSpPr/>
          <p:nvPr/>
        </p:nvSpPr>
        <p:spPr>
          <a:xfrm>
            <a:off x="5804154" y="20025360"/>
            <a:ext cx="457200" cy="45720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70" name="Timeline date 2"/>
          <p:cNvSpPr txBox="1"/>
          <p:nvPr/>
        </p:nvSpPr>
        <p:spPr>
          <a:xfrm>
            <a:off x="5804154" y="20665440"/>
            <a:ext cx="4615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15 Jan 2021</a:t>
            </a:r>
            <a:endParaRPr lang="en-US" sz="3200" dirty="0"/>
          </a:p>
        </p:txBody>
      </p:sp>
      <p:sp>
        <p:nvSpPr>
          <p:cNvPr id="71" name="Timeline text 2"/>
          <p:cNvSpPr txBox="1"/>
          <p:nvPr/>
        </p:nvSpPr>
        <p:spPr>
          <a:xfrm>
            <a:off x="5804154" y="21259800"/>
            <a:ext cx="4523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Rutte’s cabinet resigns over the scandal</a:t>
            </a:r>
            <a:endParaRPr lang="en-US" sz="2600" dirty="0"/>
          </a:p>
        </p:txBody>
      </p:sp>
      <p:sp>
        <p:nvSpPr>
          <p:cNvPr id="72" name="Timeline node 3"/>
          <p:cNvSpPr/>
          <p:nvPr/>
        </p:nvSpPr>
        <p:spPr>
          <a:xfrm>
            <a:off x="10693908" y="20025360"/>
            <a:ext cx="457200" cy="45720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73" name="Timeline date 3"/>
          <p:cNvSpPr txBox="1"/>
          <p:nvPr/>
        </p:nvSpPr>
        <p:spPr>
          <a:xfrm>
            <a:off x="10693908" y="20665440"/>
            <a:ext cx="4615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 Oct 2021</a:t>
            </a:r>
            <a:endParaRPr lang="en-US" sz="3200" dirty="0"/>
          </a:p>
        </p:txBody>
      </p:sp>
      <p:sp>
        <p:nvSpPr>
          <p:cNvPr id="74" name="Timeline text 3"/>
          <p:cNvSpPr txBox="1"/>
          <p:nvPr/>
        </p:nvSpPr>
        <p:spPr>
          <a:xfrm>
            <a:off x="10693908" y="21259800"/>
            <a:ext cx="4523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Amnesty: racial profiling was built into the system</a:t>
            </a:r>
            <a:endParaRPr lang="en-US" sz="2600" dirty="0"/>
          </a:p>
        </p:txBody>
      </p:sp>
      <p:sp>
        <p:nvSpPr>
          <p:cNvPr id="75" name="Timeline node 4"/>
          <p:cNvSpPr/>
          <p:nvPr/>
        </p:nvSpPr>
        <p:spPr>
          <a:xfrm>
            <a:off x="15583662" y="20025360"/>
            <a:ext cx="457200" cy="45720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76" name="Timeline date 4"/>
          <p:cNvSpPr txBox="1"/>
          <p:nvPr/>
        </p:nvSpPr>
        <p:spPr>
          <a:xfrm>
            <a:off x="15583662" y="20665440"/>
            <a:ext cx="4615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Dec 2021</a:t>
            </a:r>
            <a:endParaRPr lang="en-US" sz="3200" dirty="0"/>
          </a:p>
        </p:txBody>
      </p:sp>
      <p:sp>
        <p:nvSpPr>
          <p:cNvPr id="77" name="Timeline text 4"/>
          <p:cNvSpPr txBox="1"/>
          <p:nvPr/>
        </p:nvSpPr>
        <p:spPr>
          <a:xfrm>
            <a:off x="15583662" y="21259800"/>
            <a:ext cx="45239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Data regulator fines the tax authority €2.75M</a:t>
            </a:r>
            <a:endParaRPr lang="en-US" sz="2600" dirty="0"/>
          </a:p>
        </p:txBody>
      </p:sp>
      <p:sp>
        <p:nvSpPr>
          <p:cNvPr id="78" name="Section number 04"/>
          <p:cNvSpPr txBox="1"/>
          <p:nvPr/>
        </p:nvSpPr>
        <p:spPr>
          <a:xfrm>
            <a:off x="914400" y="22860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79" name="Section title 04"/>
          <p:cNvSpPr txBox="1"/>
          <p:nvPr/>
        </p:nvSpPr>
        <p:spPr>
          <a:xfrm>
            <a:off x="2651760" y="22951440"/>
            <a:ext cx="17821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What this means for us as developers</a:t>
            </a:r>
            <a:endParaRPr lang="en-US" sz="4200" dirty="0"/>
          </a:p>
        </p:txBody>
      </p:sp>
      <p:sp>
        <p:nvSpPr>
          <p:cNvPr id="80" name="Lesson card 1"/>
          <p:cNvSpPr/>
          <p:nvPr/>
        </p:nvSpPr>
        <p:spPr>
          <a:xfrm>
            <a:off x="914400" y="24003000"/>
            <a:ext cx="6275832" cy="34290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81" name="Lesson disc 1"/>
          <p:cNvSpPr/>
          <p:nvPr/>
        </p:nvSpPr>
        <p:spPr>
          <a:xfrm>
            <a:off x="1280160" y="2436876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2" name="Lesson icon 1" descr="Question every featu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24643080"/>
            <a:ext cx="594360" cy="594360"/>
          </a:xfrm>
          <a:prstGeom prst="rect">
            <a:avLst/>
          </a:prstGeom>
        </p:spPr>
      </p:pic>
      <p:sp>
        <p:nvSpPr>
          <p:cNvPr id="83" name="Lesson title 1"/>
          <p:cNvSpPr txBox="1"/>
          <p:nvPr/>
        </p:nvSpPr>
        <p:spPr>
          <a:xfrm>
            <a:off x="2697480" y="24368760"/>
            <a:ext cx="4172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Question every feature</a:t>
            </a:r>
            <a:endParaRPr lang="en-US" sz="2800" dirty="0"/>
          </a:p>
        </p:txBody>
      </p:sp>
      <p:sp>
        <p:nvSpPr>
          <p:cNvPr id="84" name="Lesson text 1"/>
          <p:cNvSpPr txBox="1"/>
          <p:nvPr/>
        </p:nvSpPr>
        <p:spPr>
          <a:xfrm>
            <a:off x="1280160" y="25740360"/>
            <a:ext cx="5544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Is nationality needed at all? The Dutch regulator found dual-nationality data wasn’t necessary.</a:t>
            </a:r>
            <a:endParaRPr lang="en-US" sz="2600" dirty="0"/>
          </a:p>
        </p:txBody>
      </p:sp>
      <p:sp>
        <p:nvSpPr>
          <p:cNvPr id="85" name="Lesson card 2"/>
          <p:cNvSpPr/>
          <p:nvPr/>
        </p:nvSpPr>
        <p:spPr>
          <a:xfrm>
            <a:off x="7555992" y="24003000"/>
            <a:ext cx="6275832" cy="34290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86" name="Lesson disc 2"/>
          <p:cNvSpPr/>
          <p:nvPr/>
        </p:nvSpPr>
        <p:spPr>
          <a:xfrm>
            <a:off x="7921752" y="2436876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7" name="Lesson icon 2" descr="Beware self-learning on biased his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072" y="24643080"/>
            <a:ext cx="594360" cy="594360"/>
          </a:xfrm>
          <a:prstGeom prst="rect">
            <a:avLst/>
          </a:prstGeom>
        </p:spPr>
      </p:pic>
      <p:sp>
        <p:nvSpPr>
          <p:cNvPr id="88" name="Lesson title 2"/>
          <p:cNvSpPr txBox="1"/>
          <p:nvPr/>
        </p:nvSpPr>
        <p:spPr>
          <a:xfrm>
            <a:off x="9339072" y="24368760"/>
            <a:ext cx="4172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Beware self-learning on biased history</a:t>
            </a:r>
            <a:endParaRPr lang="en-US" sz="2800" dirty="0"/>
          </a:p>
        </p:txBody>
      </p:sp>
      <p:sp>
        <p:nvSpPr>
          <p:cNvPr id="89" name="Lesson text 2"/>
          <p:cNvSpPr txBox="1"/>
          <p:nvPr/>
        </p:nvSpPr>
        <p:spPr>
          <a:xfrm>
            <a:off x="7921752" y="25740360"/>
            <a:ext cx="5544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A model trained on past investigations can learn their bias, then repeat it at scale.</a:t>
            </a:r>
            <a:endParaRPr lang="en-US" sz="2600" dirty="0"/>
          </a:p>
        </p:txBody>
      </p:sp>
      <p:sp>
        <p:nvSpPr>
          <p:cNvPr id="90" name="Lesson card 3"/>
          <p:cNvSpPr/>
          <p:nvPr/>
        </p:nvSpPr>
        <p:spPr>
          <a:xfrm>
            <a:off x="14197584" y="24003000"/>
            <a:ext cx="6275832" cy="34290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91" name="Lesson disc 3"/>
          <p:cNvSpPr/>
          <p:nvPr/>
        </p:nvSpPr>
        <p:spPr>
          <a:xfrm>
            <a:off x="14563344" y="2436876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2" name="Lesson icon 3" descr="Make scores explainable and appealab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7664" y="24643080"/>
            <a:ext cx="594360" cy="594360"/>
          </a:xfrm>
          <a:prstGeom prst="rect">
            <a:avLst/>
          </a:prstGeom>
        </p:spPr>
      </p:pic>
      <p:sp>
        <p:nvSpPr>
          <p:cNvPr id="93" name="Lesson title 3"/>
          <p:cNvSpPr txBox="1"/>
          <p:nvPr/>
        </p:nvSpPr>
        <p:spPr>
          <a:xfrm>
            <a:off x="15980664" y="24368760"/>
            <a:ext cx="4172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Make scores explainable and appealable</a:t>
            </a:r>
            <a:endParaRPr lang="en-US" sz="2800" dirty="0"/>
          </a:p>
        </p:txBody>
      </p:sp>
      <p:sp>
        <p:nvSpPr>
          <p:cNvPr id="94" name="Lesson text 3"/>
          <p:cNvSpPr txBox="1"/>
          <p:nvPr/>
        </p:nvSpPr>
        <p:spPr>
          <a:xfrm>
            <a:off x="14563344" y="25740360"/>
            <a:ext cx="5544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A risk score is not proof. People need to know why they were flagged, and a human who can overrule it.</a:t>
            </a:r>
            <a:endParaRPr lang="en-US" sz="2600" dirty="0"/>
          </a:p>
        </p:txBody>
      </p:sp>
      <p:sp>
        <p:nvSpPr>
          <p:cNvPr id="95" name="Closing band"/>
          <p:cNvSpPr/>
          <p:nvPr/>
        </p:nvSpPr>
        <p:spPr>
          <a:xfrm>
            <a:off x="914400" y="27797760"/>
            <a:ext cx="19559016" cy="100584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6" name="Closing question"/>
          <p:cNvSpPr txBox="1"/>
          <p:nvPr/>
        </p:nvSpPr>
        <p:spPr>
          <a:xfrm>
            <a:off x="1371600" y="27797760"/>
            <a:ext cx="18644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asks “should we use this column?” If it isn’t you, who is?</a:t>
            </a:r>
            <a:endParaRPr lang="en-US" sz="3400" dirty="0"/>
          </a:p>
        </p:txBody>
      </p:sp>
      <p:sp>
        <p:nvSpPr>
          <p:cNvPr id="97" name="References"/>
          <p:cNvSpPr txBox="1"/>
          <p:nvPr/>
        </p:nvSpPr>
        <p:spPr>
          <a:xfrm>
            <a:off x="914400" y="29032200"/>
            <a:ext cx="19559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Amnesty International (2021) Dutch childcare benefit scandal an urgent wake-up call to ban racist algorithms. amnesty.org, 25 October 2021.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DutchNews.nl (2021) Tax office fined €2.7m for discriminating against dual national families. dutchnews.nl, December 2021.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IamExpat (2021) Dutch cabinet resigns in wake of childcare benefit scandal. iamexpat.nl, January 2021.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Netzpolitik.org (2022) Childcare benefits scandal: Dutch government to pay million euro fine over racist data discrimination. netzpolitik.org.   Icons: Font Awesome Free, CC BY 4.0.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eslagen Poster">
  <a:themeElements>
    <a:clrScheme name="Toeslagen Poster">
      <a:dk1>
        <a:srgbClr val="0A1A33"/>
      </a:dk1>
      <a:lt1>
        <a:srgbClr val="FFFFFF"/>
      </a:lt1>
      <a:dk2>
        <a:srgbClr val="15325C"/>
      </a:dk2>
      <a:lt2>
        <a:srgbClr val="EAF0F8"/>
      </a:lt2>
      <a:accent1>
        <a:srgbClr val="FF6A13"/>
      </a:accent1>
      <a:accent2>
        <a:srgbClr val="E5384B"/>
      </a:accent2>
      <a:accent3>
        <a:srgbClr val="4EA8DE"/>
      </a:accent3>
      <a:accent4>
        <a:srgbClr val="FFC857"/>
      </a:accent4>
      <a:accent5>
        <a:srgbClr val="A9B8D0"/>
      </a:accent5>
      <a:accent6>
        <a:srgbClr val="2EC4B6"/>
      </a:accent6>
      <a:hlink>
        <a:srgbClr val="4EA8DE"/>
      </a:hlink>
      <a:folHlink>
        <a:srgbClr val="A9B8D0"/>
      </a:folHlink>
    </a:clrScheme>
    <a:fontScheme name="Toeslagen Pos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Algorithm That Toppled a Government</dc:title>
  <dc:subject>Dutch childcare benefits scandal (toeslagenaffaire)</dc:subject>
  <dc:creator>PptxGenJS</dc:creator>
  <cp:lastModifiedBy>PptxGenJS</cp:lastModifiedBy>
  <cp:revision>1</cp:revision>
  <dcterms:created xsi:type="dcterms:W3CDTF">2026-10-01T21:48:20Z</dcterms:created>
  <dcterms:modified xsi:type="dcterms:W3CDTF">2026-10-01T21:48:20Z</dcterms:modified>
</cp:coreProperties>
</file>